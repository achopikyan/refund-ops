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83F35"/>
                </a:solidFill>
                <a:latin typeface="Arial"/>
              </a:defRPr>
            </a:pPr>
            <a:r>
              <a:rPr sz="1200" b="0" i="0" u="none" strike="noStrike">
                <a:solidFill>
                  <a:srgbClr val="183F35"/>
                </a:solidFill>
                <a:latin typeface="Arial"/>
              </a:rPr>
              <a:t>Automatic proposals</a:t>
            </a:r>
          </a:p>
        </c:rich>
      </c:tx>
      <c:layout/>
      <c:overlay val="0"/>
    </c:title>
    <c:autoTitleDeleted val="0"/>
    <c:plotArea>
      <c:layout/>
      <c:barChart>
        <c:barDir val="col"/>
        <c:grouping val="clustered"/>
        <c:varyColors val="0"/>
        <c:ser>
          <c:idx val="0"/>
          <c:order val="0"/>
          <c:tx>
            <c:strRef>
              <c:f>Sheet1!$B$1</c:f>
              <c:strCache>
                <c:ptCount val="1"/>
                <c:pt idx="0">
                  <c:v>Automatic proposals</c:v>
                </c:pt>
              </c:strCache>
            </c:strRef>
          </c:tx>
          <c:spPr>
            <a:solidFill>
              <a:srgbClr val="3B7A63"/>
            </a:solidFill>
            <a:effectLst/>
          </c:spPr>
          <c:invertIfNegative val="0"/>
          <c:dLbls>
            <c:numFmt formatCode="#,##0" sourceLinked="0"/>
            <c:txPr>
              <a:bodyPr/>
              <a:lstStyle/>
              <a:p>
                <a:pPr>
                  <a:defRPr b="1" i="0" strike="noStrike" sz="1200" u="none">
                    <a:solidFill>
                      <a:srgbClr val="183F35"/>
                    </a:solidFill>
                    <a:latin typeface="Arial"/>
                  </a:defRPr>
                </a:pPr>
              </a:p>
            </c:txPr>
            <c:showLegendKey val="0"/>
            <c:showVal val="1"/>
            <c:showCatName val="0"/>
            <c:showSerName val="0"/>
            <c:showPercent val="0"/>
            <c:showBubbleSize val="0"/>
            <c:showLeaderLines val="0"/>
          </c:dLbls>
          <c:cat>
            <c:multiLvlStrRef>
              <c:f>Sheet1!$A$2:$A$4</c:f>
              <c:multiLvlStrCache>
                <c:ptCount val="3"/>
                <c:lvl>
                  <c:pt idx="0">
                    <c:v>v1</c:v>
                  </c:pt>
                  <c:pt idx="1">
                    <c:v>v2</c:v>
                  </c:pt>
                  <c:pt idx="2">
                    <c:v>v3</c:v>
                  </c:pt>
                </c:lvl>
              </c:multiLvlStrCache>
            </c:multiLvlStrRef>
          </c:cat>
          <c:val>
            <c:numRef>
              <c:f>Sheet1!$B$2:$B$4</c:f>
              <c:numCache>
                <c:formatCode>General</c:formatCode>
                <c:ptCount val="3"/>
                <c:pt idx="0">
                  <c:v>108</c:v>
                </c:pt>
                <c:pt idx="1">
                  <c:v>108</c:v>
                </c:pt>
                <c:pt idx="2">
                  <c:v>125</c:v>
                </c:pt>
              </c:numCache>
            </c:numRef>
          </c:val>
        </c:ser>
        <c:dLbls>
          <c:numFmt formatCode="#,##0" sourceLinked="0"/>
          <c:txPr>
            <a:bodyPr/>
            <a:lstStyle/>
            <a:p>
              <a:pPr>
                <a:defRPr b="1" i="0" strike="noStrike" sz="1200" u="none">
                  <a:solidFill>
                    <a:srgbClr val="183F35"/>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2655E"/>
                </a:solidFill>
                <a:latin typeface="Arial"/>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6350" cap="flat">
              <a:solidFill>
                <a:srgbClr val="D9E2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2655E"/>
                </a:solidFill>
                <a:latin typeface="Arial"/>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data/history.csv deduplicated from 251 rows to 248 requests, and data/policy_notes.csv. The old auto rule decided 111 requests and four reviewers decided 137, recording 1,119 review minutes; never-arrived claims took 449.5 of them. Eight approved requests have a chargeback outcome note: RF-1005, RF-2042, RF-1045, RF-2083, RF-1027, RF-2111, RF-1065 (staff) and RF-2074 (old rule), $2,319 of refunds plus 8 x $25 fees; the refund amount stands in for the missing order amount. Seven staff approvals contradicted evidence already in the notes: signed proof of delivery, a customer confirming delivery or self-inflicted damage, sealed packaging, or an unconfirmed fraud flag on a new account. Four change-of-mind refunds were approved 18-27 days after delivery against a no-exception 14-day window; RF-1008, RF-2090 and RF-2143 were rejected and overturned on appeal. The old rule never reads notes: it approved damage claims of $51-53 without a photo (RF-2037, RF-2046, RF-2121), and on the pending queue it pays RF-1074 (already refunded in store) and RF-1075 (change of mind on day 22). Messy inputs: 3 exact duplicates, a conflicting RF-2183, amounts like "USD 120.00" or "$1,150.00", day-first and ISO-timestamp dates, fraud flags yes/Y/no/N/false/blank, inconsistent reason and category spelling, missing tenure, missing or negative delivery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llm.py, domain.py, analysis_pipeline.py, storage.py, policy_management.py, experiments.py and shadow.py. The LLM extracts 21 predefined facts from allowlisted request-time fields and both notes, each with an exact quotation; outcomes, reviewer names, decisions and review minutes are excluded. The Python policy engine evaluates every enabled rule, resolves matches by priority, then applies policy-wide and execution checks. Auto Approve writes to a simulated SQLite ledger with idempotency and single-payment, daily, customer and release limits. Review opens the reviewer workspace; flagged payments go to Fraud Review until the fraud team confirms. A manager change is made in a draft version, replayed on the 248 historical requests, observed in Shadowtest on the same live requests without payments, and released explicitly; earlier versions keep a rollback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backend/refundops/source_rebuild.py build_policies and broader_candidate, README.md and the saved Sol extraction in data/demo/refundops.sqlite3. v1 reconstructs the old rule from historical routing only: amount below $55, tenure at least 9 months, no prior refunds, clear fraud flag and the 14-day change-of-mind window; it agrees with 242 of 243 eligible decisions (RF-1002 is the exception). v2 has 10 ordinary rules plus policy-wide checks; photo-supported damage is capped at $150 and excludes customer-caused or no-product damage. v2 deliberately drops the inherited nine-month tenure cutoff; that is a hypothesis to compare by tenure cohort, not a proven boundary. Replay of the same 248 requests: v1 108 automatic proposals, $3,332.51, 1 human reference, 1 known chargeback on automatic; v2 108, $4,430, 32 references with $0 above the human amount, 0 known chargebacks; v3 125, $6,681.45, 44 references with $415 above the human amount in 3 cases. Compared with v1, v2 makes 31 requests automatic and returns 31 to Review. On the 20 pending requests v2 routes 2 to Auto Approve, 16 to Review and 2 to Fraud Review. 214 of 248 outcomes are blank; replay proposals are not payments, losses or calibrated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frontend/src/Workspace.tsx, ReviewDesk.tsx, components.tsx and backend/refundops/storage.py. Reviewer sections: Request details, Policy evaluation, Evidence, Chargeback risk, Customer history and collapsible Activity. Every enabled rule is shown with its conditions, the decisive rule and the quoted evidence. Request information and hold are Review workflow states, not extra routes. Every action needs an explanation and is recorded with an audit entry; optimistic versions, idempotency keys and database uniqueness prevent duplicate decisions or payments. Conflicting source rows such as RF-2183 must be reconciled before approval. Reviewer decisions become shared Shadowtest references; candidate predictions are never shown to reviewers. Chargeback estimates are scenario information, not calibrated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rule_proposal.py, AddRuleDialog.tsx, PolicyRules.tsx, experiments.py and policy_management.py. Both changes are ordinary rules in v2, and a manager can add either to any draft with Describe with AI or Build manually. The AI drafting call returns exactly one complete rule; its schema has no question field, so ambiguous wording gets the most conservative reading, named in the rule, and the manager reviews the proposal before adding it. Rules are edited inline with autosave. "Anything over $300 comes to us": v2 rule Review amounts above $300, priority 950. Backtest on the 248 historical requests: 13 matches. Added to reconstructed v1 it changes no route, because the old rule never approved more than $55 automatically. "Stolen-card cases go straight through": policy note 5 refunds the real cardholder only after the fraud team confirms, so v2 has Confirmed stolen card: full refund, priority 880, and a flagged payment without confirmation always goes to Fraud Review (domain.py). A reported-fraud rule matches all 11 historical stolen-card reports, but the required check sends every one to Fraud Review; confirmation arrives after the decision, so the confirmed-only rule has no historical matches. Priority decides between the two rules: a confirmed stolen-card refund above $300 still comes to Review. Tested and Shadowtest versions are locked; release needs the configured prospective checks and an explicit manager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llm.py, domain.py, analysis_pipeline.py, rule_proposal.py, README.md and data/demo/refundops.sqlite3 table demo_llm_calls. Model choice: constrained multilingual extraction requires comparing notes with structured fields; gpt-6.1-sol passed the 20-case development acceptance suite, where an earlier gpt-5.4-mini run passed 14/20 with different prompts, so this is not a controlled comparison. Measured OpenRouter run: 268 successful calls, mean provider-reported cost $0.0047, total $1.25, median latency 7.3 s, 248/248 historical analyses complete and 20/20 pending acceptance cases. Native OpenAI run: 20 successful calls, all 21 questions assessed with schema, source and quote validation, v2 routing matched 20/20 (2 Auto Approve, 16 Review, 2 Fraud Review), median latency 5.3 s, 40,557 tokens; OpenAI reports no dollar cost. These are development cases, not unseen accuracy. Requests are allowlisted and identifiers redacted; outcome notes, reviewers, decisions and review minutes never reach the model. Notes are data, never instructions: embedded instructions are flagged and the request goes to Review. Deliberately not AI: routes, amounts, payments, limits, rule discovery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financial.py, decision_metrics.py, policy_management.py, shadow.py and CurrentPerformance.tsx. Backtest reports rates, proposed dollars, differences from historical decisions, known adverse outcomes, manual-work opportunity and explicit cost assumptions. Shadowtest adds prospective sample size, shared human references, amount errors, unknown assessments, confidence bounds and conditional projected loss; confidence calculations assume representative independent customer groups. Saved release defaults from financial.py: at least 24 Shadowtest hours, 30 prospective automatic proposals and 30 reviewed customer groups, five changed cases, zero critical violations, a one-sided 95% upper overpayment error bound at most 10%, and projected stress at most $1,000 over the next 100 automatic approvals. Atomic single-payment, daily, customer/day, release-dollar and operation-count limits are always enforced. The targets on this slide are proposals for the manager, who owns the tolerances. The 44% automatic share is v2 replay (108 of 248); today 8 of 248 historical requests ended in a chargeback and 3 rejections were overturned on appeal. Rollback restores an earlier version while preserving recorded decisions, payments and spent limits. Production alerting and incident response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Deferred, as requested or by scope: authentication, cloud deployment, real payment, messaging, carrier and fraud integrations, an independently labelled unseen evaluation, a calibrated chargeback model, a distributed worker queue and production security and operations. Next: collect mature independently reviewed outcomes; reserve later time periods and disjoint customers; train and calibrate a chargeback and loss model with uncertainty and drift monitoring; extend discovery to richer AND/OR interactions, then evaluate support, errors and financial exposure out of time and prune conflicting or overlapping candidates. Candidate rules stay explainable and need manager approval. Run instructions and API-key setup are in README.md; Windows and macOS launches were verified. UI roles are not authenticated identities. All money effects are simulated. AI coding assistance and one rejected implementation are disclosed in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Today: one queue, one forgotten rule</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History sample: 248 unique requests from 1 June to 18 August 2026.</a:t>
            </a:r>
            <a:endParaRPr lang="en-US" sz="1650" dirty="0"/>
          </a:p>
        </p:txBody>
      </p:sp>
      <p:sp>
        <p:nvSpPr>
          <p:cNvPr id="5" name="Text 2"/>
          <p:cNvSpPr txBox="1"/>
          <p:nvPr/>
        </p:nvSpPr>
        <p:spPr>
          <a:xfrm>
            <a:off x="609600" y="1524000"/>
            <a:ext cx="57150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WHO IS INVOLVED</a:t>
            </a:r>
            <a:endParaRPr lang="en-US" sz="1300" dirty="0"/>
          </a:p>
        </p:txBody>
      </p:sp>
      <p:sp>
        <p:nvSpPr>
          <p:cNvPr id="6" name="Shape 3"/>
          <p:cNvSpPr/>
          <p:nvPr/>
        </p:nvSpPr>
        <p:spPr>
          <a:xfrm>
            <a:off x="609600" y="1828800"/>
            <a:ext cx="1809750" cy="1028700"/>
          </a:xfrm>
          <a:prstGeom prst="rect">
            <a:avLst/>
          </a:prstGeom>
          <a:solidFill>
            <a:srgbClr val="E1ECF8"/>
          </a:solidFill>
          <a:ln w="12700">
            <a:solidFill>
              <a:srgbClr val="93ABA0"/>
            </a:solidFill>
            <a:prstDash val="solid"/>
          </a:ln>
        </p:spPr>
      </p:sp>
      <p:sp>
        <p:nvSpPr>
          <p:cNvPr id="7" name="Text 4"/>
          <p:cNvSpPr txBox="1"/>
          <p:nvPr/>
        </p:nvSpPr>
        <p:spPr>
          <a:xfrm>
            <a:off x="762000" y="1952625"/>
            <a:ext cx="15049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Customer</a:t>
            </a:r>
            <a:endParaRPr lang="en-US" sz="1750" dirty="0"/>
          </a:p>
        </p:txBody>
      </p:sp>
      <p:sp>
        <p:nvSpPr>
          <p:cNvPr id="8" name="Text 5"/>
          <p:cNvSpPr txBox="1"/>
          <p:nvPr/>
        </p:nvSpPr>
        <p:spPr>
          <a:xfrm>
            <a:off x="762000" y="2286476"/>
            <a:ext cx="1504950" cy="5043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Web form or support desk</a:t>
            </a:r>
            <a:endParaRPr lang="en-US" sz="1350" dirty="0"/>
          </a:p>
        </p:txBody>
      </p:sp>
      <p:sp>
        <p:nvSpPr>
          <p:cNvPr id="9" name="Shape 6"/>
          <p:cNvSpPr/>
          <p:nvPr/>
        </p:nvSpPr>
        <p:spPr>
          <a:xfrm>
            <a:off x="2762250" y="1828800"/>
            <a:ext cx="2019300" cy="1028700"/>
          </a:xfrm>
          <a:prstGeom prst="rect">
            <a:avLst/>
          </a:prstGeom>
          <a:solidFill>
            <a:srgbClr val="FFFFFF"/>
          </a:solidFill>
          <a:ln w="12700">
            <a:solidFill>
              <a:srgbClr val="93ABA0"/>
            </a:solidFill>
            <a:prstDash val="solid"/>
          </a:ln>
        </p:spPr>
      </p:sp>
      <p:sp>
        <p:nvSpPr>
          <p:cNvPr id="10" name="Text 7"/>
          <p:cNvSpPr txBox="1"/>
          <p:nvPr/>
        </p:nvSpPr>
        <p:spPr>
          <a:xfrm>
            <a:off x="2914650" y="1952625"/>
            <a:ext cx="171450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Support</a:t>
            </a:r>
            <a:endParaRPr lang="en-US" sz="1750" dirty="0"/>
          </a:p>
        </p:txBody>
      </p:sp>
      <p:sp>
        <p:nvSpPr>
          <p:cNvPr id="11" name="Text 8"/>
          <p:cNvSpPr txBox="1"/>
          <p:nvPr/>
        </p:nvSpPr>
        <p:spPr>
          <a:xfrm>
            <a:off x="2914650" y="2286476"/>
            <a:ext cx="1714500" cy="5043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Adds notes to requests</a:t>
            </a:r>
            <a:endParaRPr lang="en-US" sz="1350" dirty="0"/>
          </a:p>
        </p:txBody>
      </p:sp>
      <p:sp>
        <p:nvSpPr>
          <p:cNvPr id="12" name="Shape 9"/>
          <p:cNvSpPr/>
          <p:nvPr/>
        </p:nvSpPr>
        <p:spPr>
          <a:xfrm>
            <a:off x="5124450" y="1828800"/>
            <a:ext cx="2133600" cy="1028700"/>
          </a:xfrm>
          <a:prstGeom prst="rect">
            <a:avLst/>
          </a:prstGeom>
          <a:solidFill>
            <a:srgbClr val="DBEEE4"/>
          </a:solidFill>
          <a:ln w="12700">
            <a:solidFill>
              <a:srgbClr val="93ABA0"/>
            </a:solidFill>
            <a:prstDash val="solid"/>
          </a:ln>
        </p:spPr>
      </p:sp>
      <p:sp>
        <p:nvSpPr>
          <p:cNvPr id="13" name="Text 10"/>
          <p:cNvSpPr txBox="1"/>
          <p:nvPr/>
        </p:nvSpPr>
        <p:spPr>
          <a:xfrm>
            <a:off x="5276850" y="1952625"/>
            <a:ext cx="182880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Old auto rule</a:t>
            </a:r>
            <a:endParaRPr lang="en-US" sz="1750" dirty="0"/>
          </a:p>
        </p:txBody>
      </p:sp>
      <p:sp>
        <p:nvSpPr>
          <p:cNvPr id="14" name="Text 11"/>
          <p:cNvSpPr txBox="1"/>
          <p:nvPr/>
        </p:nvSpPr>
        <p:spPr>
          <a:xfrm>
            <a:off x="5276850" y="2286476"/>
            <a:ext cx="1828800" cy="5043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Unclear logic · decided 111</a:t>
            </a:r>
            <a:endParaRPr lang="en-US" sz="1350" dirty="0"/>
          </a:p>
        </p:txBody>
      </p:sp>
      <p:sp>
        <p:nvSpPr>
          <p:cNvPr id="15" name="Shape 12"/>
          <p:cNvSpPr/>
          <p:nvPr/>
        </p:nvSpPr>
        <p:spPr>
          <a:xfrm>
            <a:off x="7600950" y="1828800"/>
            <a:ext cx="2019300" cy="1028700"/>
          </a:xfrm>
          <a:prstGeom prst="rect">
            <a:avLst/>
          </a:prstGeom>
          <a:solidFill>
            <a:srgbClr val="F6EBCF"/>
          </a:solidFill>
          <a:ln w="12700">
            <a:solidFill>
              <a:srgbClr val="93ABA0"/>
            </a:solidFill>
            <a:prstDash val="solid"/>
          </a:ln>
        </p:spPr>
      </p:sp>
      <p:sp>
        <p:nvSpPr>
          <p:cNvPr id="16" name="Text 13"/>
          <p:cNvSpPr txBox="1"/>
          <p:nvPr/>
        </p:nvSpPr>
        <p:spPr>
          <a:xfrm>
            <a:off x="7753350" y="1952625"/>
            <a:ext cx="171450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4 reviewers</a:t>
            </a:r>
            <a:endParaRPr lang="en-US" sz="1750" dirty="0"/>
          </a:p>
        </p:txBody>
      </p:sp>
      <p:sp>
        <p:nvSpPr>
          <p:cNvPr id="17" name="Text 14"/>
          <p:cNvSpPr txBox="1"/>
          <p:nvPr/>
        </p:nvSpPr>
        <p:spPr>
          <a:xfrm>
            <a:off x="7753350" y="2286476"/>
            <a:ext cx="1714500" cy="5043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One mixed queue · decided 137</a:t>
            </a:r>
            <a:endParaRPr lang="en-US" sz="1350" dirty="0"/>
          </a:p>
        </p:txBody>
      </p:sp>
      <p:sp>
        <p:nvSpPr>
          <p:cNvPr id="18" name="Shape 15"/>
          <p:cNvSpPr/>
          <p:nvPr/>
        </p:nvSpPr>
        <p:spPr>
          <a:xfrm>
            <a:off x="9963150" y="1828800"/>
            <a:ext cx="1619250" cy="1028700"/>
          </a:xfrm>
          <a:prstGeom prst="rect">
            <a:avLst/>
          </a:prstGeom>
          <a:solidFill>
            <a:srgbClr val="F5E0E3"/>
          </a:solidFill>
          <a:ln w="12700">
            <a:solidFill>
              <a:srgbClr val="93ABA0"/>
            </a:solidFill>
            <a:prstDash val="solid"/>
          </a:ln>
        </p:spPr>
      </p:sp>
      <p:sp>
        <p:nvSpPr>
          <p:cNvPr id="19" name="Text 16"/>
          <p:cNvSpPr txBox="1"/>
          <p:nvPr/>
        </p:nvSpPr>
        <p:spPr>
          <a:xfrm>
            <a:off x="10115550" y="1952625"/>
            <a:ext cx="1314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Fraud team</a:t>
            </a:r>
            <a:endParaRPr lang="en-US" sz="1750" dirty="0"/>
          </a:p>
        </p:txBody>
      </p:sp>
      <p:sp>
        <p:nvSpPr>
          <p:cNvPr id="20" name="Text 17"/>
          <p:cNvSpPr txBox="1"/>
          <p:nvPr/>
        </p:nvSpPr>
        <p:spPr>
          <a:xfrm>
            <a:off x="10115550" y="2286476"/>
            <a:ext cx="1314450" cy="5043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Checks flagged payments</a:t>
            </a:r>
            <a:endParaRPr lang="en-US" sz="1350" dirty="0"/>
          </a:p>
        </p:txBody>
      </p:sp>
      <p:sp>
        <p:nvSpPr>
          <p:cNvPr id="21" name="Shape 18"/>
          <p:cNvSpPr/>
          <p:nvPr/>
        </p:nvSpPr>
        <p:spPr>
          <a:xfrm>
            <a:off x="2419350" y="2343150"/>
            <a:ext cx="342900" cy="0"/>
          </a:xfrm>
          <a:prstGeom prst="line">
            <a:avLst/>
          </a:prstGeom>
          <a:noFill/>
          <a:ln w="22860">
            <a:solidFill>
              <a:srgbClr val="93ABA0"/>
            </a:solidFill>
            <a:prstDash val="solid"/>
            <a:tailEnd type="triangle"/>
          </a:ln>
        </p:spPr>
      </p:sp>
      <p:sp>
        <p:nvSpPr>
          <p:cNvPr id="22" name="Shape 19"/>
          <p:cNvSpPr/>
          <p:nvPr/>
        </p:nvSpPr>
        <p:spPr>
          <a:xfrm>
            <a:off x="4781550" y="2343150"/>
            <a:ext cx="342900" cy="0"/>
          </a:xfrm>
          <a:prstGeom prst="line">
            <a:avLst/>
          </a:prstGeom>
          <a:noFill/>
          <a:ln w="22860">
            <a:solidFill>
              <a:srgbClr val="93ABA0"/>
            </a:solidFill>
            <a:prstDash val="solid"/>
            <a:tailEnd type="triangle"/>
          </a:ln>
        </p:spPr>
      </p:sp>
      <p:sp>
        <p:nvSpPr>
          <p:cNvPr id="23" name="Shape 20"/>
          <p:cNvSpPr/>
          <p:nvPr/>
        </p:nvSpPr>
        <p:spPr>
          <a:xfrm>
            <a:off x="7258050" y="2343150"/>
            <a:ext cx="342900" cy="0"/>
          </a:xfrm>
          <a:prstGeom prst="line">
            <a:avLst/>
          </a:prstGeom>
          <a:noFill/>
          <a:ln w="22860">
            <a:solidFill>
              <a:srgbClr val="93ABA0"/>
            </a:solidFill>
            <a:prstDash val="solid"/>
            <a:tailEnd type="triangle"/>
          </a:ln>
        </p:spPr>
      </p:sp>
      <p:sp>
        <p:nvSpPr>
          <p:cNvPr id="24" name="Shape 21"/>
          <p:cNvSpPr/>
          <p:nvPr/>
        </p:nvSpPr>
        <p:spPr>
          <a:xfrm>
            <a:off x="9620250" y="2343150"/>
            <a:ext cx="342900" cy="0"/>
          </a:xfrm>
          <a:prstGeom prst="line">
            <a:avLst/>
          </a:prstGeom>
          <a:noFill/>
          <a:ln w="22860">
            <a:solidFill>
              <a:srgbClr val="93ABA0"/>
            </a:solidFill>
            <a:prstDash val="solid"/>
            <a:tailEnd type="triangle"/>
          </a:ln>
        </p:spPr>
      </p:sp>
      <p:sp>
        <p:nvSpPr>
          <p:cNvPr id="25" name="Text 22"/>
          <p:cNvSpPr txBox="1"/>
          <p:nvPr/>
        </p:nvSpPr>
        <p:spPr>
          <a:xfrm>
            <a:off x="609600" y="3009900"/>
            <a:ext cx="10972800" cy="285750"/>
          </a:xfrm>
          <a:prstGeom prst="rect">
            <a:avLst/>
          </a:prstGeom>
          <a:noFill/>
          <a:ln/>
        </p:spPr>
        <p:txBody>
          <a:bodyPr wrap="square" lIns="0" tIns="0" rIns="0" bIns="0" rtlCol="0" anchor="t"/>
          <a:lstStyle/>
          <a:p>
            <a:pPr indent="0" marL="0">
              <a:buNone/>
            </a:pPr>
            <a:r>
              <a:rPr lang="en-US" sz="1450" dirty="0">
                <a:solidFill>
                  <a:srgbClr val="183F35"/>
                </a:solidFill>
                <a:latin typeface="Arial" pitchFamily="34" charset="0"/>
                <a:ea typeface="Arial" pitchFamily="34" charset="-122"/>
                <a:cs typeface="Arial" pitchFamily="34" charset="-120"/>
              </a:rPr>
              <a:t>The Refund Operations Manager owns the written policy, but nobody quite remembers the auto rule’s logic.</a:t>
            </a:r>
            <a:endParaRPr lang="en-US" sz="1450" dirty="0"/>
          </a:p>
        </p:txBody>
      </p:sp>
      <p:sp>
        <p:nvSpPr>
          <p:cNvPr id="26" name="Text 23"/>
          <p:cNvSpPr txBox="1"/>
          <p:nvPr/>
        </p:nvSpPr>
        <p:spPr>
          <a:xfrm>
            <a:off x="609600" y="3562350"/>
            <a:ext cx="57150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WHERE TIME AND MONEY GO, AND WHERE IT BREAKS</a:t>
            </a:r>
            <a:endParaRPr lang="en-US" sz="1300" dirty="0"/>
          </a:p>
        </p:txBody>
      </p:sp>
      <p:sp>
        <p:nvSpPr>
          <p:cNvPr id="27" name="Shape 24"/>
          <p:cNvSpPr/>
          <p:nvPr/>
        </p:nvSpPr>
        <p:spPr>
          <a:xfrm>
            <a:off x="609600" y="3867150"/>
            <a:ext cx="2571750" cy="1905000"/>
          </a:xfrm>
          <a:prstGeom prst="rect">
            <a:avLst/>
          </a:prstGeom>
          <a:solidFill>
            <a:srgbClr val="E1ECF8"/>
          </a:solidFill>
          <a:ln w="12700">
            <a:solidFill>
              <a:srgbClr val="93ABA0"/>
            </a:solidFill>
            <a:prstDash val="solid"/>
          </a:ln>
        </p:spPr>
      </p:sp>
      <p:sp>
        <p:nvSpPr>
          <p:cNvPr id="28" name="Text 25"/>
          <p:cNvSpPr txBox="1"/>
          <p:nvPr/>
        </p:nvSpPr>
        <p:spPr>
          <a:xfrm>
            <a:off x="781050" y="4019550"/>
            <a:ext cx="2228850" cy="457200"/>
          </a:xfrm>
          <a:prstGeom prst="rect">
            <a:avLst/>
          </a:prstGeom>
          <a:noFill/>
          <a:ln/>
        </p:spPr>
        <p:txBody>
          <a:bodyPr wrap="square" lIns="0" tIns="0" rIns="0" bIns="0" rtlCol="0" anchor="t"/>
          <a:lstStyle/>
          <a:p>
            <a:pPr indent="0" marL="0">
              <a:buNone/>
            </a:pPr>
            <a:r>
              <a:rPr lang="en-US" sz="2700" b="1" dirty="0">
                <a:solidFill>
                  <a:srgbClr val="183F35"/>
                </a:solidFill>
                <a:latin typeface="Arial" pitchFamily="34" charset="0"/>
                <a:ea typeface="Arial" pitchFamily="34" charset="-122"/>
                <a:cs typeface="Arial" pitchFamily="34" charset="-120"/>
              </a:rPr>
              <a:t>1,119 min</a:t>
            </a:r>
            <a:endParaRPr lang="en-US" sz="2700" dirty="0"/>
          </a:p>
        </p:txBody>
      </p:sp>
      <p:sp>
        <p:nvSpPr>
          <p:cNvPr id="29" name="Text 26"/>
          <p:cNvSpPr txBox="1"/>
          <p:nvPr/>
        </p:nvSpPr>
        <p:spPr>
          <a:xfrm>
            <a:off x="781050" y="45529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of reviewer time on 137 requests; never-arrived claims took 450 of them</a:t>
            </a:r>
            <a:endParaRPr lang="en-US" sz="1350" dirty="0"/>
          </a:p>
        </p:txBody>
      </p:sp>
      <p:sp>
        <p:nvSpPr>
          <p:cNvPr id="30" name="Shape 27"/>
          <p:cNvSpPr/>
          <p:nvPr/>
        </p:nvSpPr>
        <p:spPr>
          <a:xfrm>
            <a:off x="3409950" y="3867150"/>
            <a:ext cx="2571750" cy="1905000"/>
          </a:xfrm>
          <a:prstGeom prst="rect">
            <a:avLst/>
          </a:prstGeom>
          <a:solidFill>
            <a:srgbClr val="F5E0E3"/>
          </a:solidFill>
          <a:ln w="12700">
            <a:solidFill>
              <a:srgbClr val="93ABA0"/>
            </a:solidFill>
            <a:prstDash val="solid"/>
          </a:ln>
        </p:spPr>
      </p:sp>
      <p:sp>
        <p:nvSpPr>
          <p:cNvPr id="31" name="Text 28"/>
          <p:cNvSpPr txBox="1"/>
          <p:nvPr/>
        </p:nvSpPr>
        <p:spPr>
          <a:xfrm>
            <a:off x="3581400" y="4019550"/>
            <a:ext cx="2228850" cy="457200"/>
          </a:xfrm>
          <a:prstGeom prst="rect">
            <a:avLst/>
          </a:prstGeom>
          <a:noFill/>
          <a:ln/>
        </p:spPr>
        <p:txBody>
          <a:bodyPr wrap="square" lIns="0" tIns="0" rIns="0" bIns="0" rtlCol="0" anchor="t"/>
          <a:lstStyle/>
          <a:p>
            <a:pPr indent="0" marL="0">
              <a:buNone/>
            </a:pPr>
            <a:r>
              <a:rPr lang="en-US" sz="2700" b="1" dirty="0">
                <a:solidFill>
                  <a:srgbClr val="9D3948"/>
                </a:solidFill>
                <a:latin typeface="Arial" pitchFamily="34" charset="0"/>
                <a:ea typeface="Arial" pitchFamily="34" charset="-122"/>
                <a:cs typeface="Arial" pitchFamily="34" charset="-120"/>
              </a:rPr>
              <a:t>$2,519</a:t>
            </a:r>
            <a:endParaRPr lang="en-US" sz="2700" dirty="0"/>
          </a:p>
        </p:txBody>
      </p:sp>
      <p:sp>
        <p:nvSpPr>
          <p:cNvPr id="32" name="Text 29"/>
          <p:cNvSpPr txBox="1"/>
          <p:nvPr/>
        </p:nvSpPr>
        <p:spPr>
          <a:xfrm>
            <a:off x="3581400" y="45529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8 chargebacks with $25 fees; 7 were staff approvals against evidence already in the notes</a:t>
            </a:r>
            <a:endParaRPr lang="en-US" sz="1350" dirty="0"/>
          </a:p>
        </p:txBody>
      </p:sp>
      <p:sp>
        <p:nvSpPr>
          <p:cNvPr id="33" name="Shape 30"/>
          <p:cNvSpPr/>
          <p:nvPr/>
        </p:nvSpPr>
        <p:spPr>
          <a:xfrm>
            <a:off x="6210300" y="3867150"/>
            <a:ext cx="2571750" cy="1905000"/>
          </a:xfrm>
          <a:prstGeom prst="rect">
            <a:avLst/>
          </a:prstGeom>
          <a:solidFill>
            <a:srgbClr val="F6EBCF"/>
          </a:solidFill>
          <a:ln w="12700">
            <a:solidFill>
              <a:srgbClr val="93ABA0"/>
            </a:solidFill>
            <a:prstDash val="solid"/>
          </a:ln>
        </p:spPr>
      </p:sp>
      <p:sp>
        <p:nvSpPr>
          <p:cNvPr id="34" name="Text 31"/>
          <p:cNvSpPr txBox="1"/>
          <p:nvPr/>
        </p:nvSpPr>
        <p:spPr>
          <a:xfrm>
            <a:off x="6381750" y="4019550"/>
            <a:ext cx="2228850" cy="457200"/>
          </a:xfrm>
          <a:prstGeom prst="rect">
            <a:avLst/>
          </a:prstGeom>
          <a:noFill/>
          <a:ln/>
        </p:spPr>
        <p:txBody>
          <a:bodyPr wrap="square" lIns="0" tIns="0" rIns="0" bIns="0" rtlCol="0" anchor="t"/>
          <a:lstStyle/>
          <a:p>
            <a:pPr indent="0" marL="0">
              <a:buNone/>
            </a:pPr>
            <a:r>
              <a:rPr lang="en-US" sz="2700" b="1" dirty="0">
                <a:solidFill>
                  <a:srgbClr val="86601E"/>
                </a:solidFill>
                <a:latin typeface="Arial" pitchFamily="34" charset="0"/>
                <a:ea typeface="Arial" pitchFamily="34" charset="-122"/>
                <a:cs typeface="Arial" pitchFamily="34" charset="-120"/>
              </a:rPr>
              <a:t>7 decisions</a:t>
            </a:r>
            <a:endParaRPr lang="en-US" sz="2700" dirty="0"/>
          </a:p>
        </p:txBody>
      </p:sp>
      <p:sp>
        <p:nvSpPr>
          <p:cNvPr id="35" name="Text 32"/>
          <p:cNvSpPr txBox="1"/>
          <p:nvPr/>
        </p:nvSpPr>
        <p:spPr>
          <a:xfrm>
            <a:off x="6381750" y="45529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inconsistent: 4 change-of-mind refunds after the 14-day limit, 3 rejections overturned on appeal</a:t>
            </a:r>
            <a:endParaRPr lang="en-US" sz="1350" dirty="0"/>
          </a:p>
        </p:txBody>
      </p:sp>
      <p:sp>
        <p:nvSpPr>
          <p:cNvPr id="36" name="Shape 33"/>
          <p:cNvSpPr/>
          <p:nvPr/>
        </p:nvSpPr>
        <p:spPr>
          <a:xfrm>
            <a:off x="9010650" y="3867150"/>
            <a:ext cx="2571750" cy="1905000"/>
          </a:xfrm>
          <a:prstGeom prst="rect">
            <a:avLst/>
          </a:prstGeom>
          <a:solidFill>
            <a:srgbClr val="EAE5F5"/>
          </a:solidFill>
          <a:ln w="12700">
            <a:solidFill>
              <a:srgbClr val="93ABA0"/>
            </a:solidFill>
            <a:prstDash val="solid"/>
          </a:ln>
        </p:spPr>
      </p:sp>
      <p:sp>
        <p:nvSpPr>
          <p:cNvPr id="37" name="Text 34"/>
          <p:cNvSpPr txBox="1"/>
          <p:nvPr/>
        </p:nvSpPr>
        <p:spPr>
          <a:xfrm>
            <a:off x="9182100" y="4019550"/>
            <a:ext cx="2228850" cy="457200"/>
          </a:xfrm>
          <a:prstGeom prst="rect">
            <a:avLst/>
          </a:prstGeom>
          <a:noFill/>
          <a:ln/>
        </p:spPr>
        <p:txBody>
          <a:bodyPr wrap="square" lIns="0" tIns="0" rIns="0" bIns="0" rtlCol="0" anchor="t"/>
          <a:lstStyle/>
          <a:p>
            <a:pPr indent="0" marL="0">
              <a:buNone/>
            </a:pPr>
            <a:r>
              <a:rPr lang="en-US" sz="2700" b="1" dirty="0">
                <a:solidFill>
                  <a:srgbClr val="183F35"/>
                </a:solidFill>
                <a:latin typeface="Arial" pitchFamily="34" charset="0"/>
                <a:ea typeface="Arial" pitchFamily="34" charset="-122"/>
                <a:cs typeface="Arial" pitchFamily="34" charset="-120"/>
              </a:rPr>
              <a:t>5 payouts</a:t>
            </a:r>
            <a:endParaRPr lang="en-US" sz="2700" dirty="0"/>
          </a:p>
        </p:txBody>
      </p:sp>
      <p:sp>
        <p:nvSpPr>
          <p:cNvPr id="38" name="Text 35"/>
          <p:cNvSpPr txBox="1"/>
          <p:nvPr/>
        </p:nvSpPr>
        <p:spPr>
          <a:xfrm>
            <a:off x="9182100" y="45529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where the old rule ignored notes: 3 damage claims without a photo; today a double refund and a day-22 return</a:t>
            </a:r>
            <a:endParaRPr lang="en-US" sz="1350" dirty="0"/>
          </a:p>
        </p:txBody>
      </p:sp>
      <p:sp>
        <p:nvSpPr>
          <p:cNvPr id="39" name="Text 36"/>
          <p:cNvSpPr txBox="1"/>
          <p:nvPr/>
        </p:nvSpPr>
        <p:spPr>
          <a:xfrm>
            <a:off x="609600" y="6229350"/>
            <a:ext cx="10972800" cy="381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Messy inputs too: duplicates, four amount formats, day-first dates, six fraud-flag spellings and reasons that contradict notes.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After: AI reads, code decides, people judge</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Every request gets one explained route. The manager owns the rules and tests every change.</a:t>
            </a:r>
            <a:endParaRPr lang="en-US" sz="1650" dirty="0"/>
          </a:p>
        </p:txBody>
      </p:sp>
      <p:sp>
        <p:nvSpPr>
          <p:cNvPr id="5" name="Shape 2"/>
          <p:cNvSpPr/>
          <p:nvPr/>
        </p:nvSpPr>
        <p:spPr>
          <a:xfrm>
            <a:off x="609600" y="2038350"/>
            <a:ext cx="1962150" cy="1143000"/>
          </a:xfrm>
          <a:prstGeom prst="rect">
            <a:avLst/>
          </a:prstGeom>
          <a:solidFill>
            <a:srgbClr val="E1ECF8"/>
          </a:solidFill>
          <a:ln w="12700">
            <a:solidFill>
              <a:srgbClr val="93ABA0"/>
            </a:solidFill>
            <a:prstDash val="solid"/>
          </a:ln>
        </p:spPr>
      </p:sp>
      <p:sp>
        <p:nvSpPr>
          <p:cNvPr id="6" name="Text 3"/>
          <p:cNvSpPr txBox="1"/>
          <p:nvPr/>
        </p:nvSpPr>
        <p:spPr>
          <a:xfrm>
            <a:off x="762000" y="2162175"/>
            <a:ext cx="16573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Request</a:t>
            </a:r>
            <a:endParaRPr lang="en-US" sz="1750" dirty="0"/>
          </a:p>
        </p:txBody>
      </p:sp>
      <p:sp>
        <p:nvSpPr>
          <p:cNvPr id="7" name="Text 4"/>
          <p:cNvSpPr txBox="1"/>
          <p:nvPr/>
        </p:nvSpPr>
        <p:spPr>
          <a:xfrm>
            <a:off x="762000" y="2496026"/>
            <a:ext cx="1657350" cy="6186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CSV row and both notes</a:t>
            </a:r>
            <a:endParaRPr lang="en-US" sz="1450" dirty="0"/>
          </a:p>
        </p:txBody>
      </p:sp>
      <p:sp>
        <p:nvSpPr>
          <p:cNvPr id="8" name="Shape 5"/>
          <p:cNvSpPr/>
          <p:nvPr/>
        </p:nvSpPr>
        <p:spPr>
          <a:xfrm>
            <a:off x="2914650" y="2038350"/>
            <a:ext cx="2209800" cy="1143000"/>
          </a:xfrm>
          <a:prstGeom prst="rect">
            <a:avLst/>
          </a:prstGeom>
          <a:solidFill>
            <a:srgbClr val="EAE5F5"/>
          </a:solidFill>
          <a:ln w="12700">
            <a:solidFill>
              <a:srgbClr val="93ABA0"/>
            </a:solidFill>
            <a:prstDash val="solid"/>
          </a:ln>
        </p:spPr>
      </p:sp>
      <p:sp>
        <p:nvSpPr>
          <p:cNvPr id="9" name="Text 6"/>
          <p:cNvSpPr txBox="1"/>
          <p:nvPr/>
        </p:nvSpPr>
        <p:spPr>
          <a:xfrm>
            <a:off x="3067050" y="2162175"/>
            <a:ext cx="190500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LLM extraction</a:t>
            </a:r>
            <a:endParaRPr lang="en-US" sz="1750" dirty="0"/>
          </a:p>
        </p:txBody>
      </p:sp>
      <p:sp>
        <p:nvSpPr>
          <p:cNvPr id="10" name="Text 7"/>
          <p:cNvSpPr txBox="1"/>
          <p:nvPr/>
        </p:nvSpPr>
        <p:spPr>
          <a:xfrm>
            <a:off x="3067050" y="2496026"/>
            <a:ext cx="1905000" cy="6186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21 facts with exact quotes</a:t>
            </a:r>
            <a:endParaRPr lang="en-US" sz="1450" dirty="0"/>
          </a:p>
        </p:txBody>
      </p:sp>
      <p:sp>
        <p:nvSpPr>
          <p:cNvPr id="11" name="Shape 8"/>
          <p:cNvSpPr/>
          <p:nvPr/>
        </p:nvSpPr>
        <p:spPr>
          <a:xfrm>
            <a:off x="5467350" y="2038350"/>
            <a:ext cx="2209800" cy="1143000"/>
          </a:xfrm>
          <a:prstGeom prst="rect">
            <a:avLst/>
          </a:prstGeom>
          <a:solidFill>
            <a:srgbClr val="DBEEE4"/>
          </a:solidFill>
          <a:ln w="12700">
            <a:solidFill>
              <a:srgbClr val="93ABA0"/>
            </a:solidFill>
            <a:prstDash val="solid"/>
          </a:ln>
        </p:spPr>
      </p:sp>
      <p:sp>
        <p:nvSpPr>
          <p:cNvPr id="12" name="Text 9"/>
          <p:cNvSpPr txBox="1"/>
          <p:nvPr/>
        </p:nvSpPr>
        <p:spPr>
          <a:xfrm>
            <a:off x="5619750" y="2162175"/>
            <a:ext cx="190500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Policy engine</a:t>
            </a:r>
            <a:endParaRPr lang="en-US" sz="1750" dirty="0"/>
          </a:p>
        </p:txBody>
      </p:sp>
      <p:sp>
        <p:nvSpPr>
          <p:cNvPr id="13" name="Text 10"/>
          <p:cNvSpPr txBox="1"/>
          <p:nvPr/>
        </p:nvSpPr>
        <p:spPr>
          <a:xfrm>
            <a:off x="5619750" y="2496026"/>
            <a:ext cx="1905000" cy="6186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Manager's rules + safety checks</a:t>
            </a:r>
            <a:endParaRPr lang="en-US" sz="1450" dirty="0"/>
          </a:p>
        </p:txBody>
      </p:sp>
      <p:sp>
        <p:nvSpPr>
          <p:cNvPr id="14" name="Shape 11"/>
          <p:cNvSpPr/>
          <p:nvPr/>
        </p:nvSpPr>
        <p:spPr>
          <a:xfrm>
            <a:off x="2571750" y="2609850"/>
            <a:ext cx="342900" cy="0"/>
          </a:xfrm>
          <a:prstGeom prst="line">
            <a:avLst/>
          </a:prstGeom>
          <a:noFill/>
          <a:ln w="22860">
            <a:solidFill>
              <a:srgbClr val="93ABA0"/>
            </a:solidFill>
            <a:prstDash val="solid"/>
            <a:tailEnd type="triangle"/>
          </a:ln>
        </p:spPr>
      </p:sp>
      <p:sp>
        <p:nvSpPr>
          <p:cNvPr id="15" name="Shape 12"/>
          <p:cNvSpPr/>
          <p:nvPr/>
        </p:nvSpPr>
        <p:spPr>
          <a:xfrm>
            <a:off x="5124450" y="2609850"/>
            <a:ext cx="342900" cy="0"/>
          </a:xfrm>
          <a:prstGeom prst="line">
            <a:avLst/>
          </a:prstGeom>
          <a:noFill/>
          <a:ln w="22860">
            <a:solidFill>
              <a:srgbClr val="93ABA0"/>
            </a:solidFill>
            <a:prstDash val="solid"/>
            <a:tailEnd type="triangle"/>
          </a:ln>
        </p:spPr>
      </p:sp>
      <p:sp>
        <p:nvSpPr>
          <p:cNvPr id="16" name="Shape 13"/>
          <p:cNvSpPr/>
          <p:nvPr/>
        </p:nvSpPr>
        <p:spPr>
          <a:xfrm>
            <a:off x="7677150" y="2609850"/>
            <a:ext cx="209550" cy="0"/>
          </a:xfrm>
          <a:prstGeom prst="line">
            <a:avLst/>
          </a:prstGeom>
          <a:noFill/>
          <a:ln w="22860">
            <a:solidFill>
              <a:srgbClr val="93ABA0"/>
            </a:solidFill>
            <a:prstDash val="solid"/>
            <a:tailEnd type="none"/>
          </a:ln>
        </p:spPr>
      </p:sp>
      <p:sp>
        <p:nvSpPr>
          <p:cNvPr id="17" name="Shape 14"/>
          <p:cNvSpPr/>
          <p:nvPr/>
        </p:nvSpPr>
        <p:spPr>
          <a:xfrm>
            <a:off x="7886700" y="1971675"/>
            <a:ext cx="0" cy="1752600"/>
          </a:xfrm>
          <a:prstGeom prst="line">
            <a:avLst/>
          </a:prstGeom>
          <a:noFill/>
          <a:ln w="22860">
            <a:solidFill>
              <a:srgbClr val="93ABA0"/>
            </a:solidFill>
            <a:prstDash val="solid"/>
            <a:tailEnd type="none"/>
          </a:ln>
        </p:spPr>
      </p:sp>
      <p:sp>
        <p:nvSpPr>
          <p:cNvPr id="18" name="Shape 15"/>
          <p:cNvSpPr/>
          <p:nvPr/>
        </p:nvSpPr>
        <p:spPr>
          <a:xfrm>
            <a:off x="8115300" y="1619250"/>
            <a:ext cx="3467100" cy="704850"/>
          </a:xfrm>
          <a:prstGeom prst="rect">
            <a:avLst/>
          </a:prstGeom>
          <a:solidFill>
            <a:srgbClr val="DBEEE4"/>
          </a:solidFill>
          <a:ln w="12700">
            <a:solidFill>
              <a:srgbClr val="93ABA0"/>
            </a:solidFill>
            <a:prstDash val="solid"/>
          </a:ln>
        </p:spPr>
      </p:sp>
      <p:sp>
        <p:nvSpPr>
          <p:cNvPr id="19" name="Text 16"/>
          <p:cNvSpPr txBox="1"/>
          <p:nvPr/>
        </p:nvSpPr>
        <p:spPr>
          <a:xfrm>
            <a:off x="8267700" y="1714500"/>
            <a:ext cx="3162300" cy="266700"/>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Auto Approve</a:t>
            </a:r>
            <a:endParaRPr lang="en-US" sz="1650" dirty="0"/>
          </a:p>
        </p:txBody>
      </p:sp>
      <p:sp>
        <p:nvSpPr>
          <p:cNvPr id="20" name="Text 17"/>
          <p:cNvSpPr txBox="1"/>
          <p:nvPr/>
        </p:nvSpPr>
        <p:spPr>
          <a:xfrm>
            <a:off x="8267700" y="2000250"/>
            <a:ext cx="3162300" cy="247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Simulated payment within limits</a:t>
            </a:r>
            <a:endParaRPr lang="en-US" sz="1350" dirty="0"/>
          </a:p>
        </p:txBody>
      </p:sp>
      <p:sp>
        <p:nvSpPr>
          <p:cNvPr id="21" name="Shape 18"/>
          <p:cNvSpPr/>
          <p:nvPr/>
        </p:nvSpPr>
        <p:spPr>
          <a:xfrm>
            <a:off x="7886700" y="1971675"/>
            <a:ext cx="228600" cy="0"/>
          </a:xfrm>
          <a:prstGeom prst="line">
            <a:avLst/>
          </a:prstGeom>
          <a:noFill/>
          <a:ln w="22860">
            <a:solidFill>
              <a:srgbClr val="93ABA0"/>
            </a:solidFill>
            <a:prstDash val="solid"/>
            <a:tailEnd type="triangle"/>
          </a:ln>
        </p:spPr>
      </p:sp>
      <p:sp>
        <p:nvSpPr>
          <p:cNvPr id="22" name="Shape 19"/>
          <p:cNvSpPr/>
          <p:nvPr/>
        </p:nvSpPr>
        <p:spPr>
          <a:xfrm>
            <a:off x="8115300" y="2495550"/>
            <a:ext cx="3467100" cy="704850"/>
          </a:xfrm>
          <a:prstGeom prst="rect">
            <a:avLst/>
          </a:prstGeom>
          <a:solidFill>
            <a:srgbClr val="F6EBCF"/>
          </a:solidFill>
          <a:ln w="12700">
            <a:solidFill>
              <a:srgbClr val="93ABA0"/>
            </a:solidFill>
            <a:prstDash val="solid"/>
          </a:ln>
        </p:spPr>
      </p:sp>
      <p:sp>
        <p:nvSpPr>
          <p:cNvPr id="23" name="Text 20"/>
          <p:cNvSpPr txBox="1"/>
          <p:nvPr/>
        </p:nvSpPr>
        <p:spPr>
          <a:xfrm>
            <a:off x="8267700" y="2590800"/>
            <a:ext cx="3162300" cy="266700"/>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Review</a:t>
            </a:r>
            <a:endParaRPr lang="en-US" sz="1650" dirty="0"/>
          </a:p>
        </p:txBody>
      </p:sp>
      <p:sp>
        <p:nvSpPr>
          <p:cNvPr id="24" name="Text 21"/>
          <p:cNvSpPr txBox="1"/>
          <p:nvPr/>
        </p:nvSpPr>
        <p:spPr>
          <a:xfrm>
            <a:off x="8267700" y="2876550"/>
            <a:ext cx="3162300" cy="247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Reviewer workspace with evidence</a:t>
            </a:r>
            <a:endParaRPr lang="en-US" sz="1350" dirty="0"/>
          </a:p>
        </p:txBody>
      </p:sp>
      <p:sp>
        <p:nvSpPr>
          <p:cNvPr id="25" name="Shape 22"/>
          <p:cNvSpPr/>
          <p:nvPr/>
        </p:nvSpPr>
        <p:spPr>
          <a:xfrm>
            <a:off x="7886700" y="2847975"/>
            <a:ext cx="228600" cy="0"/>
          </a:xfrm>
          <a:prstGeom prst="line">
            <a:avLst/>
          </a:prstGeom>
          <a:noFill/>
          <a:ln w="22860">
            <a:solidFill>
              <a:srgbClr val="93ABA0"/>
            </a:solidFill>
            <a:prstDash val="solid"/>
            <a:tailEnd type="triangle"/>
          </a:ln>
        </p:spPr>
      </p:sp>
      <p:sp>
        <p:nvSpPr>
          <p:cNvPr id="26" name="Shape 23"/>
          <p:cNvSpPr/>
          <p:nvPr/>
        </p:nvSpPr>
        <p:spPr>
          <a:xfrm>
            <a:off x="8115300" y="3371850"/>
            <a:ext cx="3467100" cy="704850"/>
          </a:xfrm>
          <a:prstGeom prst="rect">
            <a:avLst/>
          </a:prstGeom>
          <a:solidFill>
            <a:srgbClr val="F5E0E3"/>
          </a:solidFill>
          <a:ln w="12700">
            <a:solidFill>
              <a:srgbClr val="93ABA0"/>
            </a:solidFill>
            <a:prstDash val="solid"/>
          </a:ln>
        </p:spPr>
      </p:sp>
      <p:sp>
        <p:nvSpPr>
          <p:cNvPr id="27" name="Text 24"/>
          <p:cNvSpPr txBox="1"/>
          <p:nvPr/>
        </p:nvSpPr>
        <p:spPr>
          <a:xfrm>
            <a:off x="8267700" y="3467100"/>
            <a:ext cx="3162300" cy="266700"/>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Fraud Review</a:t>
            </a:r>
            <a:endParaRPr lang="en-US" sz="1650" dirty="0"/>
          </a:p>
        </p:txBody>
      </p:sp>
      <p:sp>
        <p:nvSpPr>
          <p:cNvPr id="28" name="Text 25"/>
          <p:cNvSpPr txBox="1"/>
          <p:nvPr/>
        </p:nvSpPr>
        <p:spPr>
          <a:xfrm>
            <a:off x="8267700" y="3752850"/>
            <a:ext cx="3162300" cy="247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Fraud team confirms first</a:t>
            </a:r>
            <a:endParaRPr lang="en-US" sz="1350" dirty="0"/>
          </a:p>
        </p:txBody>
      </p:sp>
      <p:sp>
        <p:nvSpPr>
          <p:cNvPr id="29" name="Shape 26"/>
          <p:cNvSpPr/>
          <p:nvPr/>
        </p:nvSpPr>
        <p:spPr>
          <a:xfrm>
            <a:off x="7886700" y="3724275"/>
            <a:ext cx="228600" cy="0"/>
          </a:xfrm>
          <a:prstGeom prst="line">
            <a:avLst/>
          </a:prstGeom>
          <a:noFill/>
          <a:ln w="22860">
            <a:solidFill>
              <a:srgbClr val="93ABA0"/>
            </a:solidFill>
            <a:prstDash val="solid"/>
            <a:tailEnd type="triangle"/>
          </a:ln>
        </p:spPr>
      </p:sp>
      <p:sp>
        <p:nvSpPr>
          <p:cNvPr id="30" name="Text 27"/>
          <p:cNvSpPr txBox="1"/>
          <p:nvPr/>
        </p:nvSpPr>
        <p:spPr>
          <a:xfrm>
            <a:off x="609600" y="4476750"/>
            <a:ext cx="57150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THE MANAGER, WITHOUT AN ENGINEER</a:t>
            </a:r>
            <a:endParaRPr lang="en-US" sz="1300" dirty="0"/>
          </a:p>
        </p:txBody>
      </p:sp>
      <p:sp>
        <p:nvSpPr>
          <p:cNvPr id="31" name="Shape 28"/>
          <p:cNvSpPr/>
          <p:nvPr/>
        </p:nvSpPr>
        <p:spPr>
          <a:xfrm>
            <a:off x="609600" y="4781550"/>
            <a:ext cx="2381250" cy="1028700"/>
          </a:xfrm>
          <a:prstGeom prst="rect">
            <a:avLst/>
          </a:prstGeom>
          <a:solidFill>
            <a:srgbClr val="FFFFFF"/>
          </a:solidFill>
          <a:ln w="12700">
            <a:solidFill>
              <a:srgbClr val="93ABA0"/>
            </a:solidFill>
            <a:prstDash val="solid"/>
          </a:ln>
        </p:spPr>
      </p:sp>
      <p:sp>
        <p:nvSpPr>
          <p:cNvPr id="32" name="Text 29"/>
          <p:cNvSpPr txBox="1"/>
          <p:nvPr/>
        </p:nvSpPr>
        <p:spPr>
          <a:xfrm>
            <a:off x="762000" y="4905375"/>
            <a:ext cx="2076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Draft rule</a:t>
            </a:r>
            <a:endParaRPr lang="en-US" sz="1750" dirty="0"/>
          </a:p>
        </p:txBody>
      </p:sp>
      <p:sp>
        <p:nvSpPr>
          <p:cNvPr id="33" name="Text 30"/>
          <p:cNvSpPr txBox="1"/>
          <p:nvPr/>
        </p:nvSpPr>
        <p:spPr>
          <a:xfrm>
            <a:off x="762000" y="5239226"/>
            <a:ext cx="2076450" cy="5043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In words or with a form</a:t>
            </a:r>
            <a:endParaRPr lang="en-US" sz="1450" dirty="0"/>
          </a:p>
        </p:txBody>
      </p:sp>
      <p:sp>
        <p:nvSpPr>
          <p:cNvPr id="34" name="Shape 31"/>
          <p:cNvSpPr/>
          <p:nvPr/>
        </p:nvSpPr>
        <p:spPr>
          <a:xfrm>
            <a:off x="3333750" y="4781550"/>
            <a:ext cx="2381250" cy="1028700"/>
          </a:xfrm>
          <a:prstGeom prst="rect">
            <a:avLst/>
          </a:prstGeom>
          <a:solidFill>
            <a:srgbClr val="FFFFFF"/>
          </a:solidFill>
          <a:ln w="12700">
            <a:solidFill>
              <a:srgbClr val="93ABA0"/>
            </a:solidFill>
            <a:prstDash val="solid"/>
          </a:ln>
        </p:spPr>
      </p:sp>
      <p:sp>
        <p:nvSpPr>
          <p:cNvPr id="35" name="Text 32"/>
          <p:cNvSpPr txBox="1"/>
          <p:nvPr/>
        </p:nvSpPr>
        <p:spPr>
          <a:xfrm>
            <a:off x="3486150" y="4905375"/>
            <a:ext cx="2076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Backtest</a:t>
            </a:r>
            <a:endParaRPr lang="en-US" sz="1750" dirty="0"/>
          </a:p>
        </p:txBody>
      </p:sp>
      <p:sp>
        <p:nvSpPr>
          <p:cNvPr id="36" name="Text 33"/>
          <p:cNvSpPr txBox="1"/>
          <p:nvPr/>
        </p:nvSpPr>
        <p:spPr>
          <a:xfrm>
            <a:off x="3486150" y="5239226"/>
            <a:ext cx="2076450" cy="5043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248 historical requests</a:t>
            </a:r>
            <a:endParaRPr lang="en-US" sz="1450" dirty="0"/>
          </a:p>
        </p:txBody>
      </p:sp>
      <p:sp>
        <p:nvSpPr>
          <p:cNvPr id="37" name="Shape 34"/>
          <p:cNvSpPr/>
          <p:nvPr/>
        </p:nvSpPr>
        <p:spPr>
          <a:xfrm>
            <a:off x="6057900" y="4781550"/>
            <a:ext cx="2381250" cy="1028700"/>
          </a:xfrm>
          <a:prstGeom prst="rect">
            <a:avLst/>
          </a:prstGeom>
          <a:solidFill>
            <a:srgbClr val="FFFFFF"/>
          </a:solidFill>
          <a:ln w="12700">
            <a:solidFill>
              <a:srgbClr val="93ABA0"/>
            </a:solidFill>
            <a:prstDash val="solid"/>
          </a:ln>
        </p:spPr>
      </p:sp>
      <p:sp>
        <p:nvSpPr>
          <p:cNvPr id="38" name="Text 35"/>
          <p:cNvSpPr txBox="1"/>
          <p:nvPr/>
        </p:nvSpPr>
        <p:spPr>
          <a:xfrm>
            <a:off x="6210300" y="4905375"/>
            <a:ext cx="2076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Shadowtest</a:t>
            </a:r>
            <a:endParaRPr lang="en-US" sz="1750" dirty="0"/>
          </a:p>
        </p:txBody>
      </p:sp>
      <p:sp>
        <p:nvSpPr>
          <p:cNvPr id="39" name="Text 36"/>
          <p:cNvSpPr txBox="1"/>
          <p:nvPr/>
        </p:nvSpPr>
        <p:spPr>
          <a:xfrm>
            <a:off x="6210300" y="5239226"/>
            <a:ext cx="2076450" cy="5043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Live queue, no payments</a:t>
            </a:r>
            <a:endParaRPr lang="en-US" sz="1450" dirty="0"/>
          </a:p>
        </p:txBody>
      </p:sp>
      <p:sp>
        <p:nvSpPr>
          <p:cNvPr id="40" name="Shape 37"/>
          <p:cNvSpPr/>
          <p:nvPr/>
        </p:nvSpPr>
        <p:spPr>
          <a:xfrm>
            <a:off x="8782050" y="4781550"/>
            <a:ext cx="2800350" cy="1028700"/>
          </a:xfrm>
          <a:prstGeom prst="rect">
            <a:avLst/>
          </a:prstGeom>
          <a:solidFill>
            <a:srgbClr val="FFFFFF"/>
          </a:solidFill>
          <a:ln w="12700">
            <a:solidFill>
              <a:srgbClr val="93ABA0"/>
            </a:solidFill>
            <a:prstDash val="solid"/>
          </a:ln>
        </p:spPr>
      </p:sp>
      <p:sp>
        <p:nvSpPr>
          <p:cNvPr id="41" name="Text 38"/>
          <p:cNvSpPr txBox="1"/>
          <p:nvPr/>
        </p:nvSpPr>
        <p:spPr>
          <a:xfrm>
            <a:off x="8934450" y="4905375"/>
            <a:ext cx="24955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Release</a:t>
            </a:r>
            <a:endParaRPr lang="en-US" sz="1750" dirty="0"/>
          </a:p>
        </p:txBody>
      </p:sp>
      <p:sp>
        <p:nvSpPr>
          <p:cNvPr id="42" name="Text 39"/>
          <p:cNvSpPr txBox="1"/>
          <p:nvPr/>
        </p:nvSpPr>
        <p:spPr>
          <a:xfrm>
            <a:off x="8934450" y="5239226"/>
            <a:ext cx="2495550" cy="50434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Explicit, with rollback</a:t>
            </a:r>
            <a:endParaRPr lang="en-US" sz="1450" dirty="0"/>
          </a:p>
        </p:txBody>
      </p:sp>
      <p:sp>
        <p:nvSpPr>
          <p:cNvPr id="43" name="Shape 40"/>
          <p:cNvSpPr/>
          <p:nvPr/>
        </p:nvSpPr>
        <p:spPr>
          <a:xfrm>
            <a:off x="2990850" y="5295900"/>
            <a:ext cx="342900" cy="0"/>
          </a:xfrm>
          <a:prstGeom prst="line">
            <a:avLst/>
          </a:prstGeom>
          <a:noFill/>
          <a:ln w="22860">
            <a:solidFill>
              <a:srgbClr val="93ABA0"/>
            </a:solidFill>
            <a:prstDash val="solid"/>
            <a:tailEnd type="triangle"/>
          </a:ln>
        </p:spPr>
      </p:sp>
      <p:sp>
        <p:nvSpPr>
          <p:cNvPr id="44" name="Shape 41"/>
          <p:cNvSpPr/>
          <p:nvPr/>
        </p:nvSpPr>
        <p:spPr>
          <a:xfrm>
            <a:off x="5715000" y="5295900"/>
            <a:ext cx="342900" cy="0"/>
          </a:xfrm>
          <a:prstGeom prst="line">
            <a:avLst/>
          </a:prstGeom>
          <a:noFill/>
          <a:ln w="22860">
            <a:solidFill>
              <a:srgbClr val="93ABA0"/>
            </a:solidFill>
            <a:prstDash val="solid"/>
            <a:tailEnd type="triangle"/>
          </a:ln>
        </p:spPr>
      </p:sp>
      <p:sp>
        <p:nvSpPr>
          <p:cNvPr id="45" name="Shape 42"/>
          <p:cNvSpPr/>
          <p:nvPr/>
        </p:nvSpPr>
        <p:spPr>
          <a:xfrm>
            <a:off x="8439150" y="5295900"/>
            <a:ext cx="342900" cy="0"/>
          </a:xfrm>
          <a:prstGeom prst="line">
            <a:avLst/>
          </a:prstGeom>
          <a:noFill/>
          <a:ln w="22860">
            <a:solidFill>
              <a:srgbClr val="93ABA0"/>
            </a:solidFill>
            <a:prstDash val="solid"/>
            <a:tailEnd type="triangle"/>
          </a:ln>
        </p:spPr>
      </p:sp>
      <p:sp>
        <p:nvSpPr>
          <p:cNvPr id="46" name="Shape 43"/>
          <p:cNvSpPr/>
          <p:nvPr/>
        </p:nvSpPr>
        <p:spPr>
          <a:xfrm flipV="1">
            <a:off x="10182225" y="4267200"/>
            <a:ext cx="0" cy="514350"/>
          </a:xfrm>
          <a:prstGeom prst="line">
            <a:avLst/>
          </a:prstGeom>
          <a:noFill/>
          <a:ln w="22860">
            <a:solidFill>
              <a:srgbClr val="93ABA0"/>
            </a:solidFill>
            <a:prstDash val="dash"/>
            <a:tailEnd type="none"/>
          </a:ln>
        </p:spPr>
      </p:sp>
      <p:sp>
        <p:nvSpPr>
          <p:cNvPr id="47" name="Shape 44"/>
          <p:cNvSpPr/>
          <p:nvPr/>
        </p:nvSpPr>
        <p:spPr>
          <a:xfrm flipH="1">
            <a:off x="6572250" y="4267200"/>
            <a:ext cx="3609975" cy="0"/>
          </a:xfrm>
          <a:prstGeom prst="line">
            <a:avLst/>
          </a:prstGeom>
          <a:noFill/>
          <a:ln w="22860">
            <a:solidFill>
              <a:srgbClr val="93ABA0"/>
            </a:solidFill>
            <a:prstDash val="dash"/>
            <a:tailEnd type="none"/>
          </a:ln>
        </p:spPr>
      </p:sp>
      <p:sp>
        <p:nvSpPr>
          <p:cNvPr id="48" name="Shape 45"/>
          <p:cNvSpPr/>
          <p:nvPr/>
        </p:nvSpPr>
        <p:spPr>
          <a:xfrm flipV="1">
            <a:off x="6572250" y="3181350"/>
            <a:ext cx="0" cy="1085850"/>
          </a:xfrm>
          <a:prstGeom prst="line">
            <a:avLst/>
          </a:prstGeom>
          <a:noFill/>
          <a:ln w="22860">
            <a:solidFill>
              <a:srgbClr val="93ABA0"/>
            </a:solidFill>
            <a:prstDash val="dash"/>
            <a:tailEnd type="triangle"/>
          </a:ln>
        </p:spPr>
      </p:sp>
      <p:sp>
        <p:nvSpPr>
          <p:cNvPr id="49" name="Text 46"/>
          <p:cNvSpPr txBox="1"/>
          <p:nvPr/>
        </p:nvSpPr>
        <p:spPr>
          <a:xfrm>
            <a:off x="609600" y="6229350"/>
            <a:ext cx="10972800" cy="381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Before: one queue and a rule nobody remembers. After: visible rules, explained outcomes, tested changes.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The line: what the system handles alone</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Proposed policy v2. Anything that is not clearly simple goes to a person.</a:t>
            </a:r>
            <a:endParaRPr lang="en-US" sz="1650" dirty="0"/>
          </a:p>
        </p:txBody>
      </p:sp>
      <p:sp>
        <p:nvSpPr>
          <p:cNvPr id="5" name="Shape 2"/>
          <p:cNvSpPr/>
          <p:nvPr/>
        </p:nvSpPr>
        <p:spPr>
          <a:xfrm>
            <a:off x="609600" y="1524000"/>
            <a:ext cx="3886200" cy="4343400"/>
          </a:xfrm>
          <a:prstGeom prst="rect">
            <a:avLst/>
          </a:prstGeom>
          <a:solidFill>
            <a:srgbClr val="DBEEE4"/>
          </a:solidFill>
          <a:ln w="12700">
            <a:solidFill>
              <a:srgbClr val="93ABA0"/>
            </a:solidFill>
            <a:prstDash val="solid"/>
          </a:ln>
        </p:spPr>
      </p:sp>
      <p:sp>
        <p:nvSpPr>
          <p:cNvPr id="6" name="Text 3"/>
          <p:cNvSpPr txBox="1"/>
          <p:nvPr/>
        </p:nvSpPr>
        <p:spPr>
          <a:xfrm>
            <a:off x="819150" y="1695450"/>
            <a:ext cx="3467100" cy="28575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Handled alone</a:t>
            </a:r>
            <a:endParaRPr lang="en-US" sz="1800" dirty="0"/>
          </a:p>
        </p:txBody>
      </p:sp>
      <p:sp>
        <p:nvSpPr>
          <p:cNvPr id="7" name="Text 4"/>
          <p:cNvSpPr txBox="1"/>
          <p:nvPr/>
        </p:nvSpPr>
        <p:spPr>
          <a:xfrm>
            <a:off x="819150" y="2000250"/>
            <a:ext cx="3467100" cy="247650"/>
          </a:xfrm>
          <a:prstGeom prst="rect">
            <a:avLst/>
          </a:prstGeom>
          <a:noFill/>
          <a:ln/>
        </p:spPr>
        <p:txBody>
          <a:bodyPr wrap="square" lIns="0" tIns="0" rIns="0" bIns="0" rtlCol="0" anchor="t"/>
          <a:lstStyle/>
          <a:p>
            <a:pPr indent="0" marL="0">
              <a:buNone/>
            </a:pPr>
            <a:r>
              <a:rPr lang="en-US" sz="1350" b="1" dirty="0">
                <a:solidFill>
                  <a:srgbClr val="52655E"/>
                </a:solidFill>
                <a:latin typeface="Arial" pitchFamily="34" charset="0"/>
                <a:ea typeface="Arial" pitchFamily="34" charset="-122"/>
                <a:cs typeface="Arial" pitchFamily="34" charset="-120"/>
              </a:rPr>
              <a:t>Auto Approve</a:t>
            </a:r>
            <a:endParaRPr lang="en-US" sz="1350" dirty="0"/>
          </a:p>
        </p:txBody>
      </p:sp>
      <p:sp>
        <p:nvSpPr>
          <p:cNvPr id="8" name="Text 5"/>
          <p:cNvSpPr txBox="1"/>
          <p:nvPr/>
        </p:nvSpPr>
        <p:spPr>
          <a:xfrm>
            <a:off x="819150" y="2381250"/>
            <a:ext cx="3467100" cy="2667000"/>
          </a:xfrm>
          <a:prstGeom prst="rect">
            <a:avLst/>
          </a:prstGeom>
          <a:noFill/>
          <a:ln/>
        </p:spPr>
        <p:txBody>
          <a:bodyPr wrap="square" lIns="0" tIns="0" rIns="0" bIns="0" rtlCol="0" anchor="t"/>
          <a:lstStyle/>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Wrong-size apparel up to $100</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Change of mind up to $75, within 14 days</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Apparel or home damage up to $50, or $150 with a photo</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Our mistake, once confirmed: full refund</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Stolen card, once the fraud team confirms: full refund</a:t>
            </a:r>
            <a:endParaRPr lang="en-US" sz="1450" dirty="0"/>
          </a:p>
        </p:txBody>
      </p:sp>
      <p:sp>
        <p:nvSpPr>
          <p:cNvPr id="9" name="Text 6"/>
          <p:cNvSpPr txBox="1"/>
          <p:nvPr/>
        </p:nvSpPr>
        <p:spPr>
          <a:xfrm>
            <a:off x="819150" y="5143500"/>
            <a:ext cx="3467100" cy="609600"/>
          </a:xfrm>
          <a:prstGeom prst="rect">
            <a:avLst/>
          </a:prstGeom>
          <a:noFill/>
          <a:ln/>
        </p:spPr>
        <p:txBody>
          <a:bodyPr wrap="square" lIns="0" tIns="0" rIns="0" bIns="0" rtlCol="0" anchor="t"/>
          <a:lstStyle/>
          <a:p>
            <a:pPr indent="0" marL="0">
              <a:buNone/>
            </a:pPr>
            <a:r>
              <a:rPr lang="en-US" sz="1300" dirty="0">
                <a:solidFill>
                  <a:srgbClr val="52655E"/>
                </a:solidFill>
                <a:latin typeface="Arial" pitchFamily="34" charset="0"/>
                <a:ea typeface="Arial" pitchFamily="34" charset="-122"/>
                <a:cs typeface="Arial" pitchFamily="34" charset="-120"/>
              </a:rPr>
              <a:t>Returns and damage also need no prior refunds, a clear fraud flag and notes that agree.</a:t>
            </a:r>
            <a:endParaRPr lang="en-US" sz="1300" dirty="0"/>
          </a:p>
        </p:txBody>
      </p:sp>
      <p:sp>
        <p:nvSpPr>
          <p:cNvPr id="10" name="Shape 7"/>
          <p:cNvSpPr/>
          <p:nvPr/>
        </p:nvSpPr>
        <p:spPr>
          <a:xfrm>
            <a:off x="4724400" y="1524000"/>
            <a:ext cx="3886200" cy="4343400"/>
          </a:xfrm>
          <a:prstGeom prst="rect">
            <a:avLst/>
          </a:prstGeom>
          <a:solidFill>
            <a:srgbClr val="F6EBCF"/>
          </a:solidFill>
          <a:ln w="12700">
            <a:solidFill>
              <a:srgbClr val="93ABA0"/>
            </a:solidFill>
            <a:prstDash val="solid"/>
          </a:ln>
        </p:spPr>
      </p:sp>
      <p:sp>
        <p:nvSpPr>
          <p:cNvPr id="11" name="Text 8"/>
          <p:cNvSpPr txBox="1"/>
          <p:nvPr/>
        </p:nvSpPr>
        <p:spPr>
          <a:xfrm>
            <a:off x="4933950" y="1695450"/>
            <a:ext cx="3467100" cy="28575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Goes to a person</a:t>
            </a:r>
            <a:endParaRPr lang="en-US" sz="1800" dirty="0"/>
          </a:p>
        </p:txBody>
      </p:sp>
      <p:sp>
        <p:nvSpPr>
          <p:cNvPr id="12" name="Text 9"/>
          <p:cNvSpPr txBox="1"/>
          <p:nvPr/>
        </p:nvSpPr>
        <p:spPr>
          <a:xfrm>
            <a:off x="4933950" y="2000250"/>
            <a:ext cx="3467100" cy="247650"/>
          </a:xfrm>
          <a:prstGeom prst="rect">
            <a:avLst/>
          </a:prstGeom>
          <a:noFill/>
          <a:ln/>
        </p:spPr>
        <p:txBody>
          <a:bodyPr wrap="square" lIns="0" tIns="0" rIns="0" bIns="0" rtlCol="0" anchor="t"/>
          <a:lstStyle/>
          <a:p>
            <a:pPr indent="0" marL="0">
              <a:buNone/>
            </a:pPr>
            <a:r>
              <a:rPr lang="en-US" sz="1350" b="1" dirty="0">
                <a:solidFill>
                  <a:srgbClr val="52655E"/>
                </a:solidFill>
                <a:latin typeface="Arial" pitchFamily="34" charset="0"/>
                <a:ea typeface="Arial" pitchFamily="34" charset="-122"/>
                <a:cs typeface="Arial" pitchFamily="34" charset="-120"/>
              </a:rPr>
              <a:t>Review or Fraud Review</a:t>
            </a:r>
            <a:endParaRPr lang="en-US" sz="1350" dirty="0"/>
          </a:p>
        </p:txBody>
      </p:sp>
      <p:sp>
        <p:nvSpPr>
          <p:cNvPr id="13" name="Text 10"/>
          <p:cNvSpPr txBox="1"/>
          <p:nvPr/>
        </p:nvSpPr>
        <p:spPr>
          <a:xfrm>
            <a:off x="4933950" y="2381250"/>
            <a:ext cx="3467100" cy="3333750"/>
          </a:xfrm>
          <a:prstGeom prst="rect">
            <a:avLst/>
          </a:prstGeom>
          <a:noFill/>
          <a:ln/>
        </p:spPr>
        <p:txBody>
          <a:bodyPr wrap="square" lIns="0" tIns="0" rIns="0" bIns="0" rtlCol="0" anchor="t"/>
          <a:lstStyle/>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Anything over $300</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Repeat refunds in the last 12 months</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Delivery proof or a carrier incident</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Electronics, partial or customer-caused damage</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Already refunded, a reason the notes contradict, or embedded instructions</a:t>
            </a:r>
            <a:endParaRPr lang="en-US" sz="1450" dirty="0"/>
          </a:p>
          <a:p>
            <a:pPr marL="203200" indent="-203200">
              <a:spcAft>
                <a:spcPts val="700"/>
              </a:spcAft>
              <a:buSzPct val="100000"/>
              <a:buChar char="•"/>
            </a:pPr>
            <a:r>
              <a:rPr lang="en-US" sz="1450" dirty="0">
                <a:solidFill>
                  <a:srgbClr val="183F35"/>
                </a:solidFill>
                <a:latin typeface="Arial" pitchFamily="34" charset="0"/>
                <a:ea typeface="Arial" pitchFamily="34" charset="-122"/>
                <a:cs typeface="Arial" pitchFamily="34" charset="-120"/>
              </a:rPr>
              <a:t>A fraud flag without confirmation goes to the fraud team</a:t>
            </a:r>
            <a:endParaRPr lang="en-US" sz="1450" dirty="0"/>
          </a:p>
        </p:txBody>
      </p:sp>
      <p:sp>
        <p:nvSpPr>
          <p:cNvPr id="14" name="Text 11"/>
          <p:cNvSpPr txBox="1"/>
          <p:nvPr/>
        </p:nvSpPr>
        <p:spPr>
          <a:xfrm>
            <a:off x="8839200" y="1543050"/>
            <a:ext cx="28575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EVIDENCE · 248 REQUESTS</a:t>
            </a:r>
            <a:endParaRPr lang="en-US" sz="1300" dirty="0"/>
          </a:p>
        </p:txBody>
      </p:sp>
      <p:graphicFrame>
        <p:nvGraphicFramePr>
          <p:cNvPr id="15" name="Chart 0" descr=""/>
          <p:cNvGraphicFramePr/>
          <p:nvPr/>
        </p:nvGraphicFramePr>
        <p:xfrm>
          <a:off x="8839200" y="1809750"/>
          <a:ext cx="2743200" cy="1866900"/>
        </p:xfrm>
        <a:graphic xmlns:a="http://schemas.openxmlformats.org/drawingml/2006/main">
          <a:graphicData uri="http://schemas.openxmlformats.org/drawingml/2006/chart">
            <c:chart xmlns:c="http://schemas.openxmlformats.org/drawingml/2006/chart" r:id="rId1"/>
          </a:graphicData>
        </a:graphic>
      </p:graphicFrame>
      <p:sp>
        <p:nvSpPr>
          <p:cNvPr id="16" name="Text 12"/>
          <p:cNvSpPr txBox="1"/>
          <p:nvPr/>
        </p:nvSpPr>
        <p:spPr>
          <a:xfrm>
            <a:off x="8839200" y="3790950"/>
            <a:ext cx="2743200" cy="2095500"/>
          </a:xfrm>
          <a:prstGeom prst="rect">
            <a:avLst/>
          </a:prstGeom>
          <a:noFill/>
          <a:ln/>
        </p:spPr>
        <p:txBody>
          <a:bodyPr wrap="square" lIns="0" tIns="0" rIns="0" bIns="0" rtlCol="0" anchor="t"/>
          <a:lstStyle/>
          <a:p>
            <a:pPr marL="203200" indent="-203200">
              <a:spcAft>
                <a:spcPts val="700"/>
              </a:spcAft>
              <a:buSzPct val="100000"/>
              <a:buChar char="•"/>
            </a:pPr>
            <a:r>
              <a:rPr lang="en-US" sz="1200" dirty="0">
                <a:solidFill>
                  <a:srgbClr val="183F35"/>
                </a:solidFill>
                <a:latin typeface="Arial" pitchFamily="34" charset="0"/>
                <a:ea typeface="Arial" pitchFamily="34" charset="-122"/>
                <a:cs typeface="Arial" pitchFamily="34" charset="-120"/>
              </a:rPr>
              <a:t>v1 matches the old rule in 242 of 243 eligible decisions</a:t>
            </a:r>
            <a:endParaRPr lang="en-US" sz="1200" dirty="0"/>
          </a:p>
          <a:p>
            <a:pPr marL="203200" indent="-203200">
              <a:spcAft>
                <a:spcPts val="700"/>
              </a:spcAft>
              <a:buSzPct val="100000"/>
              <a:buChar char="•"/>
            </a:pPr>
            <a:r>
              <a:rPr lang="en-US" sz="1200" dirty="0">
                <a:solidFill>
                  <a:srgbClr val="183F35"/>
                </a:solidFill>
                <a:latin typeface="Arial" pitchFamily="34" charset="0"/>
                <a:ea typeface="Arial" pitchFamily="34" charset="-122"/>
                <a:cs typeface="Arial" pitchFamily="34" charset="-120"/>
              </a:rPr>
              <a:t>v2: same count, different cases: 31 in, 31 out</a:t>
            </a:r>
            <a:endParaRPr lang="en-US" sz="1200" dirty="0"/>
          </a:p>
          <a:p>
            <a:pPr marL="203200" indent="-203200">
              <a:spcAft>
                <a:spcPts val="700"/>
              </a:spcAft>
              <a:buSzPct val="100000"/>
              <a:buChar char="•"/>
            </a:pPr>
            <a:r>
              <a:rPr lang="en-US" sz="1200" dirty="0">
                <a:solidFill>
                  <a:srgbClr val="183F35"/>
                </a:solidFill>
                <a:latin typeface="Arial" pitchFamily="34" charset="0"/>
                <a:ea typeface="Arial" pitchFamily="34" charset="-122"/>
                <a:cs typeface="Arial" pitchFamily="34" charset="-120"/>
              </a:rPr>
              <a:t>v2: $0 above human amounts on 32 assessed, 0 known chargebacks</a:t>
            </a:r>
            <a:endParaRPr lang="en-US" sz="1200" dirty="0"/>
          </a:p>
          <a:p>
            <a:pPr marL="203200" indent="-203200">
              <a:spcAft>
                <a:spcPts val="700"/>
              </a:spcAft>
              <a:buSzPct val="100000"/>
              <a:buChar char="•"/>
            </a:pPr>
            <a:r>
              <a:rPr lang="en-US" sz="1200" dirty="0">
                <a:solidFill>
                  <a:srgbClr val="183F35"/>
                </a:solidFill>
                <a:latin typeface="Arial" pitchFamily="34" charset="0"/>
                <a:ea typeface="Arial" pitchFamily="34" charset="-122"/>
                <a:cs typeface="Arial" pitchFamily="34" charset="-120"/>
              </a:rPr>
              <a:t>v3: $415 above human amounts in 3 cases</a:t>
            </a:r>
            <a:endParaRPr lang="en-US" sz="1200" dirty="0"/>
          </a:p>
        </p:txBody>
      </p:sp>
      <p:sp>
        <p:nvSpPr>
          <p:cNvPr id="17" name="Text 13"/>
          <p:cNvSpPr txBox="1"/>
          <p:nvPr/>
        </p:nvSpPr>
        <p:spPr>
          <a:xfrm>
            <a:off x="609600" y="6229350"/>
            <a:ext cx="10972800" cy="381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214 of 248 outcomes are unknown: the replay supports this line but does not prove it safe.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Reviewer: evidence to decision, in one place</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What lands there: everything the policy does not take. Of the 20 pending requests, v2 sends 16 to Review and 2 to Fraud Review.</a:t>
            </a:r>
            <a:endParaRPr lang="en-US" sz="1650" dirty="0"/>
          </a:p>
        </p:txBody>
      </p:sp>
      <p:sp>
        <p:nvSpPr>
          <p:cNvPr id="5" name="Shape 2"/>
          <p:cNvSpPr/>
          <p:nvPr/>
        </p:nvSpPr>
        <p:spPr>
          <a:xfrm>
            <a:off x="609600" y="1905000"/>
            <a:ext cx="2438400" cy="1333500"/>
          </a:xfrm>
          <a:prstGeom prst="rect">
            <a:avLst/>
          </a:prstGeom>
          <a:solidFill>
            <a:srgbClr val="E1ECF8"/>
          </a:solidFill>
          <a:ln w="12700">
            <a:solidFill>
              <a:srgbClr val="93ABA0"/>
            </a:solidFill>
            <a:prstDash val="solid"/>
          </a:ln>
        </p:spPr>
      </p:sp>
      <p:sp>
        <p:nvSpPr>
          <p:cNvPr id="6" name="Text 3"/>
          <p:cNvSpPr txBox="1"/>
          <p:nvPr/>
        </p:nvSpPr>
        <p:spPr>
          <a:xfrm>
            <a:off x="762000" y="2028825"/>
            <a:ext cx="2133600" cy="29718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Request queue</a:t>
            </a:r>
            <a:endParaRPr lang="en-US" sz="1800" dirty="0"/>
          </a:p>
        </p:txBody>
      </p:sp>
      <p:sp>
        <p:nvSpPr>
          <p:cNvPr id="7" name="Text 4"/>
          <p:cNvSpPr txBox="1"/>
          <p:nvPr/>
        </p:nvSpPr>
        <p:spPr>
          <a:xfrm>
            <a:off x="762000" y="2375535"/>
            <a:ext cx="2133600" cy="79629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All · Open · Waiting</a:t>
            </a:r>
            <a:endParaRPr lang="en-US" sz="1450" dirty="0"/>
          </a:p>
          <a:p>
            <a:pPr indent="0" marL="0">
              <a:buNone/>
            </a:pPr>
            <a:r>
              <a:rPr lang="en-US" sz="1450" dirty="0">
                <a:solidFill>
                  <a:srgbClr val="52655E"/>
                </a:solidFill>
                <a:latin typeface="Arial" pitchFamily="34" charset="0"/>
                <a:ea typeface="Arial" pitchFamily="34" charset="-122"/>
                <a:cs typeface="Arial" pitchFamily="34" charset="-120"/>
              </a:rPr>
              <a:t>Fraud · Completed</a:t>
            </a:r>
            <a:endParaRPr lang="en-US" sz="1450" dirty="0"/>
          </a:p>
        </p:txBody>
      </p:sp>
      <p:sp>
        <p:nvSpPr>
          <p:cNvPr id="8" name="Shape 5"/>
          <p:cNvSpPr/>
          <p:nvPr/>
        </p:nvSpPr>
        <p:spPr>
          <a:xfrm>
            <a:off x="3524250" y="1905000"/>
            <a:ext cx="3657600" cy="1866900"/>
          </a:xfrm>
          <a:prstGeom prst="rect">
            <a:avLst/>
          </a:prstGeom>
          <a:solidFill>
            <a:srgbClr val="FFFFFF"/>
          </a:solidFill>
          <a:ln w="12700">
            <a:solidFill>
              <a:srgbClr val="93ABA0"/>
            </a:solidFill>
            <a:prstDash val="solid"/>
          </a:ln>
        </p:spPr>
      </p:sp>
      <p:sp>
        <p:nvSpPr>
          <p:cNvPr id="9" name="Text 6"/>
          <p:cNvSpPr txBox="1"/>
          <p:nvPr/>
        </p:nvSpPr>
        <p:spPr>
          <a:xfrm>
            <a:off x="3695700" y="2038350"/>
            <a:ext cx="3314700" cy="28575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Request workspace</a:t>
            </a:r>
            <a:endParaRPr lang="en-US" sz="1800" dirty="0"/>
          </a:p>
        </p:txBody>
      </p:sp>
      <p:sp>
        <p:nvSpPr>
          <p:cNvPr id="10" name="Text 7"/>
          <p:cNvSpPr txBox="1"/>
          <p:nvPr/>
        </p:nvSpPr>
        <p:spPr>
          <a:xfrm>
            <a:off x="3695700" y="2419350"/>
            <a:ext cx="3314700" cy="123825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Details + policy trace</a:t>
            </a:r>
            <a:endParaRPr lang="en-US" sz="1450" dirty="0"/>
          </a:p>
          <a:p>
            <a:pPr indent="0" marL="0">
              <a:buNone/>
            </a:pPr>
            <a:r>
              <a:rPr lang="en-US" sz="1450" dirty="0">
                <a:solidFill>
                  <a:srgbClr val="52655E"/>
                </a:solidFill>
                <a:latin typeface="Arial" pitchFamily="34" charset="0"/>
                <a:ea typeface="Arial" pitchFamily="34" charset="-122"/>
                <a:cs typeface="Arial" pitchFamily="34" charset="-120"/>
              </a:rPr>
              <a:t>Evidence with quotes</a:t>
            </a:r>
            <a:endParaRPr lang="en-US" sz="1450" dirty="0"/>
          </a:p>
          <a:p>
            <a:pPr indent="0" marL="0">
              <a:buNone/>
            </a:pPr>
            <a:r>
              <a:rPr lang="en-US" sz="1450" dirty="0">
                <a:solidFill>
                  <a:srgbClr val="52655E"/>
                </a:solidFill>
                <a:latin typeface="Arial" pitchFamily="34" charset="0"/>
                <a:ea typeface="Arial" pitchFamily="34" charset="-122"/>
                <a:cs typeface="Arial" pitchFamily="34" charset="-120"/>
              </a:rPr>
              <a:t>Customer history</a:t>
            </a:r>
            <a:endParaRPr lang="en-US" sz="1450" dirty="0"/>
          </a:p>
          <a:p>
            <a:pPr indent="0" marL="0">
              <a:buNone/>
            </a:pPr>
            <a:r>
              <a:rPr lang="en-US" sz="1450" dirty="0">
                <a:solidFill>
                  <a:srgbClr val="52655E"/>
                </a:solidFill>
                <a:latin typeface="Arial" pitchFamily="34" charset="0"/>
                <a:ea typeface="Arial" pitchFamily="34" charset="-122"/>
                <a:cs typeface="Arial" pitchFamily="34" charset="-120"/>
              </a:rPr>
              <a:t>Chargeback risk + activity</a:t>
            </a:r>
            <a:endParaRPr lang="en-US" sz="1450" dirty="0"/>
          </a:p>
        </p:txBody>
      </p:sp>
      <p:sp>
        <p:nvSpPr>
          <p:cNvPr id="11" name="Shape 8"/>
          <p:cNvSpPr/>
          <p:nvPr/>
        </p:nvSpPr>
        <p:spPr>
          <a:xfrm>
            <a:off x="3048000" y="2571750"/>
            <a:ext cx="476250" cy="0"/>
          </a:xfrm>
          <a:prstGeom prst="line">
            <a:avLst/>
          </a:prstGeom>
          <a:noFill/>
          <a:ln w="22860">
            <a:solidFill>
              <a:srgbClr val="93ABA0"/>
            </a:solidFill>
            <a:prstDash val="solid"/>
            <a:tailEnd type="triangle"/>
          </a:ln>
        </p:spPr>
      </p:sp>
      <p:sp>
        <p:nvSpPr>
          <p:cNvPr id="12" name="Shape 9"/>
          <p:cNvSpPr/>
          <p:nvPr/>
        </p:nvSpPr>
        <p:spPr>
          <a:xfrm>
            <a:off x="7181850" y="2838450"/>
            <a:ext cx="304800" cy="0"/>
          </a:xfrm>
          <a:prstGeom prst="line">
            <a:avLst/>
          </a:prstGeom>
          <a:noFill/>
          <a:ln w="22860">
            <a:solidFill>
              <a:srgbClr val="93ABA0"/>
            </a:solidFill>
            <a:prstDash val="solid"/>
            <a:tailEnd type="none"/>
          </a:ln>
        </p:spPr>
      </p:sp>
      <p:sp>
        <p:nvSpPr>
          <p:cNvPr id="13" name="Shape 10"/>
          <p:cNvSpPr/>
          <p:nvPr/>
        </p:nvSpPr>
        <p:spPr>
          <a:xfrm>
            <a:off x="7486650" y="2181225"/>
            <a:ext cx="0" cy="2247900"/>
          </a:xfrm>
          <a:prstGeom prst="line">
            <a:avLst/>
          </a:prstGeom>
          <a:noFill/>
          <a:ln w="22860">
            <a:solidFill>
              <a:srgbClr val="93ABA0"/>
            </a:solidFill>
            <a:prstDash val="solid"/>
            <a:tailEnd type="none"/>
          </a:ln>
        </p:spPr>
      </p:sp>
      <p:sp>
        <p:nvSpPr>
          <p:cNvPr id="14" name="Shape 11"/>
          <p:cNvSpPr/>
          <p:nvPr/>
        </p:nvSpPr>
        <p:spPr>
          <a:xfrm>
            <a:off x="7734300" y="1752600"/>
            <a:ext cx="3848100" cy="857250"/>
          </a:xfrm>
          <a:prstGeom prst="rect">
            <a:avLst/>
          </a:prstGeom>
          <a:solidFill>
            <a:srgbClr val="DBEEE4"/>
          </a:solidFill>
          <a:ln w="12700">
            <a:solidFill>
              <a:srgbClr val="93ABA0"/>
            </a:solidFill>
            <a:prstDash val="solid"/>
          </a:ln>
        </p:spPr>
      </p:sp>
      <p:sp>
        <p:nvSpPr>
          <p:cNvPr id="15" name="Text 12"/>
          <p:cNvSpPr txBox="1"/>
          <p:nvPr/>
        </p:nvSpPr>
        <p:spPr>
          <a:xfrm>
            <a:off x="7886700" y="1876425"/>
            <a:ext cx="3543300" cy="29718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Approve</a:t>
            </a:r>
            <a:endParaRPr lang="en-US" sz="1800" dirty="0"/>
          </a:p>
        </p:txBody>
      </p:sp>
      <p:sp>
        <p:nvSpPr>
          <p:cNvPr id="16" name="Text 13"/>
          <p:cNvSpPr txBox="1"/>
          <p:nvPr/>
        </p:nvSpPr>
        <p:spPr>
          <a:xfrm>
            <a:off x="7886700" y="2223135"/>
            <a:ext cx="3543300" cy="32004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Full requested refund</a:t>
            </a:r>
            <a:endParaRPr lang="en-US" sz="1450" dirty="0"/>
          </a:p>
        </p:txBody>
      </p:sp>
      <p:sp>
        <p:nvSpPr>
          <p:cNvPr id="17" name="Shape 14"/>
          <p:cNvSpPr/>
          <p:nvPr/>
        </p:nvSpPr>
        <p:spPr>
          <a:xfrm>
            <a:off x="7486650" y="2181225"/>
            <a:ext cx="247650" cy="0"/>
          </a:xfrm>
          <a:prstGeom prst="line">
            <a:avLst/>
          </a:prstGeom>
          <a:noFill/>
          <a:ln w="22860">
            <a:solidFill>
              <a:srgbClr val="93ABA0"/>
            </a:solidFill>
            <a:prstDash val="solid"/>
            <a:tailEnd type="triangle"/>
          </a:ln>
        </p:spPr>
      </p:sp>
      <p:sp>
        <p:nvSpPr>
          <p:cNvPr id="18" name="Shape 15"/>
          <p:cNvSpPr/>
          <p:nvPr/>
        </p:nvSpPr>
        <p:spPr>
          <a:xfrm>
            <a:off x="7734300" y="2876550"/>
            <a:ext cx="3848100" cy="857250"/>
          </a:xfrm>
          <a:prstGeom prst="rect">
            <a:avLst/>
          </a:prstGeom>
          <a:solidFill>
            <a:srgbClr val="F6EBCF"/>
          </a:solidFill>
          <a:ln w="12700">
            <a:solidFill>
              <a:srgbClr val="93ABA0"/>
            </a:solidFill>
            <a:prstDash val="solid"/>
          </a:ln>
        </p:spPr>
      </p:sp>
      <p:sp>
        <p:nvSpPr>
          <p:cNvPr id="19" name="Text 16"/>
          <p:cNvSpPr txBox="1"/>
          <p:nvPr/>
        </p:nvSpPr>
        <p:spPr>
          <a:xfrm>
            <a:off x="7886700" y="3000375"/>
            <a:ext cx="3543300" cy="29718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Partial refund</a:t>
            </a:r>
            <a:endParaRPr lang="en-US" sz="1800" dirty="0"/>
          </a:p>
        </p:txBody>
      </p:sp>
      <p:sp>
        <p:nvSpPr>
          <p:cNvPr id="20" name="Text 17"/>
          <p:cNvSpPr txBox="1"/>
          <p:nvPr/>
        </p:nvSpPr>
        <p:spPr>
          <a:xfrm>
            <a:off x="7886700" y="3347085"/>
            <a:ext cx="3543300" cy="32004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Reviewer sets the amount</a:t>
            </a:r>
            <a:endParaRPr lang="en-US" sz="1450" dirty="0"/>
          </a:p>
        </p:txBody>
      </p:sp>
      <p:sp>
        <p:nvSpPr>
          <p:cNvPr id="21" name="Shape 18"/>
          <p:cNvSpPr/>
          <p:nvPr/>
        </p:nvSpPr>
        <p:spPr>
          <a:xfrm>
            <a:off x="7486650" y="3305175"/>
            <a:ext cx="247650" cy="0"/>
          </a:xfrm>
          <a:prstGeom prst="line">
            <a:avLst/>
          </a:prstGeom>
          <a:noFill/>
          <a:ln w="22860">
            <a:solidFill>
              <a:srgbClr val="93ABA0"/>
            </a:solidFill>
            <a:prstDash val="solid"/>
            <a:tailEnd type="triangle"/>
          </a:ln>
        </p:spPr>
      </p:sp>
      <p:sp>
        <p:nvSpPr>
          <p:cNvPr id="22" name="Shape 19"/>
          <p:cNvSpPr/>
          <p:nvPr/>
        </p:nvSpPr>
        <p:spPr>
          <a:xfrm>
            <a:off x="7734300" y="4000500"/>
            <a:ext cx="3848100" cy="857250"/>
          </a:xfrm>
          <a:prstGeom prst="rect">
            <a:avLst/>
          </a:prstGeom>
          <a:solidFill>
            <a:srgbClr val="F5E0E3"/>
          </a:solidFill>
          <a:ln w="12700">
            <a:solidFill>
              <a:srgbClr val="93ABA0"/>
            </a:solidFill>
            <a:prstDash val="solid"/>
          </a:ln>
        </p:spPr>
      </p:sp>
      <p:sp>
        <p:nvSpPr>
          <p:cNvPr id="23" name="Text 20"/>
          <p:cNvSpPr txBox="1"/>
          <p:nvPr/>
        </p:nvSpPr>
        <p:spPr>
          <a:xfrm>
            <a:off x="7886700" y="4124325"/>
            <a:ext cx="3543300" cy="297180"/>
          </a:xfrm>
          <a:prstGeom prst="rect">
            <a:avLst/>
          </a:prstGeom>
          <a:noFill/>
          <a:ln/>
        </p:spPr>
        <p:txBody>
          <a:bodyPr wrap="square" lIns="0" tIns="0" rIns="0" bIns="0" rtlCol="0" anchor="t"/>
          <a:lstStyle/>
          <a:p>
            <a:pPr indent="0" marL="0">
              <a:buNone/>
            </a:pPr>
            <a:r>
              <a:rPr lang="en-US" sz="1800" b="1" dirty="0">
                <a:solidFill>
                  <a:srgbClr val="183F35"/>
                </a:solidFill>
                <a:latin typeface="Arial" pitchFamily="34" charset="0"/>
                <a:ea typeface="Arial" pitchFamily="34" charset="-122"/>
                <a:cs typeface="Arial" pitchFamily="34" charset="-120"/>
              </a:rPr>
              <a:t>Reject</a:t>
            </a:r>
            <a:endParaRPr lang="en-US" sz="1800" dirty="0"/>
          </a:p>
        </p:txBody>
      </p:sp>
      <p:sp>
        <p:nvSpPr>
          <p:cNvPr id="24" name="Text 21"/>
          <p:cNvSpPr txBox="1"/>
          <p:nvPr/>
        </p:nvSpPr>
        <p:spPr>
          <a:xfrm>
            <a:off x="7886700" y="4471035"/>
            <a:ext cx="3543300" cy="32004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Explain the decision</a:t>
            </a:r>
            <a:endParaRPr lang="en-US" sz="1450" dirty="0"/>
          </a:p>
        </p:txBody>
      </p:sp>
      <p:sp>
        <p:nvSpPr>
          <p:cNvPr id="25" name="Shape 22"/>
          <p:cNvSpPr/>
          <p:nvPr/>
        </p:nvSpPr>
        <p:spPr>
          <a:xfrm>
            <a:off x="7486650" y="4429125"/>
            <a:ext cx="247650" cy="0"/>
          </a:xfrm>
          <a:prstGeom prst="line">
            <a:avLst/>
          </a:prstGeom>
          <a:noFill/>
          <a:ln w="22860">
            <a:solidFill>
              <a:srgbClr val="93ABA0"/>
            </a:solidFill>
            <a:prstDash val="solid"/>
            <a:tailEnd type="triangle"/>
          </a:ln>
        </p:spPr>
      </p:sp>
      <p:sp>
        <p:nvSpPr>
          <p:cNvPr id="26" name="Shape 23"/>
          <p:cNvSpPr/>
          <p:nvPr/>
        </p:nvSpPr>
        <p:spPr>
          <a:xfrm>
            <a:off x="609600" y="4267200"/>
            <a:ext cx="2857500" cy="1066800"/>
          </a:xfrm>
          <a:prstGeom prst="rect">
            <a:avLst/>
          </a:prstGeom>
          <a:solidFill>
            <a:srgbClr val="E1ECF8"/>
          </a:solidFill>
          <a:ln w="12700">
            <a:solidFill>
              <a:srgbClr val="93ABA0"/>
            </a:solidFill>
            <a:prstDash val="solid"/>
          </a:ln>
        </p:spPr>
      </p:sp>
      <p:sp>
        <p:nvSpPr>
          <p:cNvPr id="27" name="Text 24"/>
          <p:cNvSpPr txBox="1"/>
          <p:nvPr/>
        </p:nvSpPr>
        <p:spPr>
          <a:xfrm>
            <a:off x="762000" y="4391025"/>
            <a:ext cx="255270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Correct or verify</a:t>
            </a:r>
            <a:endParaRPr lang="en-US" sz="1750" dirty="0"/>
          </a:p>
        </p:txBody>
      </p:sp>
      <p:sp>
        <p:nvSpPr>
          <p:cNvPr id="28" name="Text 25"/>
          <p:cNvSpPr txBox="1"/>
          <p:nvPr/>
        </p:nvSpPr>
        <p:spPr>
          <a:xfrm>
            <a:off x="762000" y="4724876"/>
            <a:ext cx="2552700" cy="5424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New input triggers fresh analysis</a:t>
            </a:r>
            <a:endParaRPr lang="en-US" sz="1350" dirty="0"/>
          </a:p>
        </p:txBody>
      </p:sp>
      <p:sp>
        <p:nvSpPr>
          <p:cNvPr id="29" name="Shape 26"/>
          <p:cNvSpPr/>
          <p:nvPr/>
        </p:nvSpPr>
        <p:spPr>
          <a:xfrm>
            <a:off x="3771900" y="4267200"/>
            <a:ext cx="3409950" cy="1066800"/>
          </a:xfrm>
          <a:prstGeom prst="rect">
            <a:avLst/>
          </a:prstGeom>
          <a:solidFill>
            <a:srgbClr val="EAE5F5"/>
          </a:solidFill>
          <a:ln w="12700">
            <a:solidFill>
              <a:srgbClr val="93ABA0"/>
            </a:solidFill>
            <a:prstDash val="solid"/>
          </a:ln>
        </p:spPr>
      </p:sp>
      <p:sp>
        <p:nvSpPr>
          <p:cNvPr id="30" name="Text 27"/>
          <p:cNvSpPr txBox="1"/>
          <p:nvPr/>
        </p:nvSpPr>
        <p:spPr>
          <a:xfrm>
            <a:off x="3924300" y="4391025"/>
            <a:ext cx="31051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Wait or refer to fraud</a:t>
            </a:r>
            <a:endParaRPr lang="en-US" sz="1750" dirty="0"/>
          </a:p>
        </p:txBody>
      </p:sp>
      <p:sp>
        <p:nvSpPr>
          <p:cNvPr id="31" name="Text 28"/>
          <p:cNvSpPr txBox="1"/>
          <p:nvPr/>
        </p:nvSpPr>
        <p:spPr>
          <a:xfrm>
            <a:off x="3924300" y="4724876"/>
            <a:ext cx="3105150" cy="542449"/>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Resume after new evidence</a:t>
            </a:r>
            <a:endParaRPr lang="en-US" sz="1350" dirty="0"/>
          </a:p>
        </p:txBody>
      </p:sp>
      <p:sp>
        <p:nvSpPr>
          <p:cNvPr id="32" name="Shape 29"/>
          <p:cNvSpPr/>
          <p:nvPr/>
        </p:nvSpPr>
        <p:spPr>
          <a:xfrm flipV="1">
            <a:off x="2038350" y="4000500"/>
            <a:ext cx="0" cy="266700"/>
          </a:xfrm>
          <a:prstGeom prst="line">
            <a:avLst/>
          </a:prstGeom>
          <a:noFill/>
          <a:ln w="22860">
            <a:solidFill>
              <a:srgbClr val="93ABA0"/>
            </a:solidFill>
            <a:prstDash val="dash"/>
            <a:tailEnd type="none"/>
          </a:ln>
        </p:spPr>
      </p:sp>
      <p:sp>
        <p:nvSpPr>
          <p:cNvPr id="33" name="Shape 30"/>
          <p:cNvSpPr/>
          <p:nvPr/>
        </p:nvSpPr>
        <p:spPr>
          <a:xfrm>
            <a:off x="2038350" y="4000500"/>
            <a:ext cx="3314700" cy="0"/>
          </a:xfrm>
          <a:prstGeom prst="line">
            <a:avLst/>
          </a:prstGeom>
          <a:noFill/>
          <a:ln w="22860">
            <a:solidFill>
              <a:srgbClr val="93ABA0"/>
            </a:solidFill>
            <a:prstDash val="dash"/>
            <a:tailEnd type="none"/>
          </a:ln>
        </p:spPr>
      </p:sp>
      <p:sp>
        <p:nvSpPr>
          <p:cNvPr id="34" name="Shape 31"/>
          <p:cNvSpPr/>
          <p:nvPr/>
        </p:nvSpPr>
        <p:spPr>
          <a:xfrm flipV="1">
            <a:off x="5353050" y="3771900"/>
            <a:ext cx="0" cy="228600"/>
          </a:xfrm>
          <a:prstGeom prst="line">
            <a:avLst/>
          </a:prstGeom>
          <a:noFill/>
          <a:ln w="22860">
            <a:solidFill>
              <a:srgbClr val="93ABA0"/>
            </a:solidFill>
            <a:prstDash val="dash"/>
            <a:tailEnd type="triangle"/>
          </a:ln>
        </p:spPr>
      </p:sp>
      <p:sp>
        <p:nvSpPr>
          <p:cNvPr id="35" name="Shape 32"/>
          <p:cNvSpPr/>
          <p:nvPr/>
        </p:nvSpPr>
        <p:spPr>
          <a:xfrm>
            <a:off x="3524250" y="5619750"/>
            <a:ext cx="8058150" cy="533400"/>
          </a:xfrm>
          <a:prstGeom prst="rect">
            <a:avLst/>
          </a:prstGeom>
          <a:solidFill>
            <a:srgbClr val="DBEEE4"/>
          </a:solidFill>
          <a:ln w="12700">
            <a:solidFill>
              <a:srgbClr val="93ABA0"/>
            </a:solidFill>
            <a:prstDash val="solid"/>
          </a:ln>
        </p:spPr>
      </p:sp>
      <p:sp>
        <p:nvSpPr>
          <p:cNvPr id="36" name="Text 33"/>
          <p:cNvSpPr txBox="1"/>
          <p:nvPr/>
        </p:nvSpPr>
        <p:spPr>
          <a:xfrm>
            <a:off x="3714750" y="5772150"/>
            <a:ext cx="7677150" cy="266700"/>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Decision + audit → independent references for Shadowtest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Manager: change the policy, see the effect first</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The brief's two changes, made in a draft version without an engineer.</a:t>
            </a:r>
            <a:endParaRPr lang="en-US" sz="1650" dirty="0"/>
          </a:p>
        </p:txBody>
      </p:sp>
      <p:sp>
        <p:nvSpPr>
          <p:cNvPr id="5" name="Shape 2"/>
          <p:cNvSpPr/>
          <p:nvPr/>
        </p:nvSpPr>
        <p:spPr>
          <a:xfrm>
            <a:off x="609600" y="1524000"/>
            <a:ext cx="5372100" cy="2400300"/>
          </a:xfrm>
          <a:prstGeom prst="rect">
            <a:avLst/>
          </a:prstGeom>
          <a:solidFill>
            <a:srgbClr val="FFFFFF"/>
          </a:solidFill>
          <a:ln w="12700">
            <a:solidFill>
              <a:srgbClr val="93ABA0"/>
            </a:solidFill>
            <a:prstDash val="solid"/>
          </a:ln>
        </p:spPr>
      </p:sp>
      <p:sp>
        <p:nvSpPr>
          <p:cNvPr id="6" name="Text 3"/>
          <p:cNvSpPr txBox="1"/>
          <p:nvPr/>
        </p:nvSpPr>
        <p:spPr>
          <a:xfrm>
            <a:off x="819150" y="1714500"/>
            <a:ext cx="4953000" cy="609600"/>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“From now on, anything over $300 comes to us.”</a:t>
            </a:r>
            <a:endParaRPr lang="en-US" sz="1750" dirty="0"/>
          </a:p>
        </p:txBody>
      </p:sp>
      <p:sp>
        <p:nvSpPr>
          <p:cNvPr id="7" name="Shape 4"/>
          <p:cNvSpPr/>
          <p:nvPr/>
        </p:nvSpPr>
        <p:spPr>
          <a:xfrm>
            <a:off x="819150" y="2438400"/>
            <a:ext cx="4953000" cy="457200"/>
          </a:xfrm>
          <a:prstGeom prst="rect">
            <a:avLst/>
          </a:prstGeom>
          <a:solidFill>
            <a:srgbClr val="DBEEE4"/>
          </a:solidFill>
          <a:ln w="12700">
            <a:solidFill>
              <a:srgbClr val="93ABA0"/>
            </a:solidFill>
            <a:prstDash val="solid"/>
          </a:ln>
        </p:spPr>
      </p:sp>
      <p:sp>
        <p:nvSpPr>
          <p:cNvPr id="8" name="Text 5"/>
          <p:cNvSpPr txBox="1"/>
          <p:nvPr/>
        </p:nvSpPr>
        <p:spPr>
          <a:xfrm>
            <a:off x="971550" y="2552700"/>
            <a:ext cx="4648200" cy="247650"/>
          </a:xfrm>
          <a:prstGeom prst="rect">
            <a:avLst/>
          </a:prstGeom>
          <a:noFill/>
          <a:ln/>
        </p:spPr>
        <p:txBody>
          <a:bodyPr wrap="square" lIns="0" tIns="0" rIns="0" bIns="0" rtlCol="0" anchor="t"/>
          <a:lstStyle/>
          <a:p>
            <a:pPr indent="0" marL="0">
              <a:buNone/>
            </a:pPr>
            <a:r>
              <a:rPr lang="en-US" sz="1450" b="1" dirty="0">
                <a:solidFill>
                  <a:srgbClr val="183F35"/>
                </a:solidFill>
                <a:latin typeface="Arial" pitchFamily="34" charset="0"/>
                <a:ea typeface="Arial" pitchFamily="34" charset="-122"/>
                <a:cs typeface="Arial" pitchFamily="34" charset="-120"/>
              </a:rPr>
              <a:t>Amount above $300 → Review · priority 950</a:t>
            </a:r>
            <a:endParaRPr lang="en-US" sz="1450" dirty="0"/>
          </a:p>
        </p:txBody>
      </p:sp>
      <p:sp>
        <p:nvSpPr>
          <p:cNvPr id="9" name="Text 6"/>
          <p:cNvSpPr txBox="1"/>
          <p:nvPr/>
        </p:nvSpPr>
        <p:spPr>
          <a:xfrm>
            <a:off x="819150" y="3048000"/>
            <a:ext cx="4953000" cy="762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Backtest on 248 historical requests: 13 matches. Added to v1 it changes no route: the old rule never auto-approved more than $55.</a:t>
            </a:r>
            <a:endParaRPr lang="en-US" sz="1450" dirty="0"/>
          </a:p>
        </p:txBody>
      </p:sp>
      <p:sp>
        <p:nvSpPr>
          <p:cNvPr id="10" name="Shape 7"/>
          <p:cNvSpPr/>
          <p:nvPr/>
        </p:nvSpPr>
        <p:spPr>
          <a:xfrm>
            <a:off x="6210300" y="1524000"/>
            <a:ext cx="5372100" cy="2400300"/>
          </a:xfrm>
          <a:prstGeom prst="rect">
            <a:avLst/>
          </a:prstGeom>
          <a:solidFill>
            <a:srgbClr val="FFFFFF"/>
          </a:solidFill>
          <a:ln w="12700">
            <a:solidFill>
              <a:srgbClr val="93ABA0"/>
            </a:solidFill>
            <a:prstDash val="solid"/>
          </a:ln>
        </p:spPr>
      </p:sp>
      <p:sp>
        <p:nvSpPr>
          <p:cNvPr id="11" name="Text 8"/>
          <p:cNvSpPr txBox="1"/>
          <p:nvPr/>
        </p:nvSpPr>
        <p:spPr>
          <a:xfrm>
            <a:off x="6419850" y="1714500"/>
            <a:ext cx="4953000" cy="609600"/>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“From now on, stolen-card cases go straight through.”</a:t>
            </a:r>
            <a:endParaRPr lang="en-US" sz="1750" dirty="0"/>
          </a:p>
        </p:txBody>
      </p:sp>
      <p:sp>
        <p:nvSpPr>
          <p:cNvPr id="12" name="Shape 9"/>
          <p:cNvSpPr/>
          <p:nvPr/>
        </p:nvSpPr>
        <p:spPr>
          <a:xfrm>
            <a:off x="6419850" y="2438400"/>
            <a:ext cx="4953000" cy="457200"/>
          </a:xfrm>
          <a:prstGeom prst="rect">
            <a:avLst/>
          </a:prstGeom>
          <a:solidFill>
            <a:srgbClr val="DBEEE4"/>
          </a:solidFill>
          <a:ln w="12700">
            <a:solidFill>
              <a:srgbClr val="93ABA0"/>
            </a:solidFill>
            <a:prstDash val="solid"/>
          </a:ln>
        </p:spPr>
      </p:sp>
      <p:sp>
        <p:nvSpPr>
          <p:cNvPr id="13" name="Text 10"/>
          <p:cNvSpPr txBox="1"/>
          <p:nvPr/>
        </p:nvSpPr>
        <p:spPr>
          <a:xfrm>
            <a:off x="6572250" y="2552700"/>
            <a:ext cx="4648200" cy="247650"/>
          </a:xfrm>
          <a:prstGeom prst="rect">
            <a:avLst/>
          </a:prstGeom>
          <a:noFill/>
          <a:ln/>
        </p:spPr>
        <p:txBody>
          <a:bodyPr wrap="square" lIns="0" tIns="0" rIns="0" bIns="0" rtlCol="0" anchor="t"/>
          <a:lstStyle/>
          <a:p>
            <a:pPr indent="0" marL="0">
              <a:buNone/>
            </a:pPr>
            <a:r>
              <a:rPr lang="en-US" sz="1450" b="1" dirty="0">
                <a:solidFill>
                  <a:srgbClr val="183F35"/>
                </a:solidFill>
                <a:latin typeface="Arial" pitchFamily="34" charset="0"/>
                <a:ea typeface="Arial" pitchFamily="34" charset="-122"/>
                <a:cs typeface="Arial" pitchFamily="34" charset="-120"/>
              </a:rPr>
              <a:t>Fraud confirmed → Auto Approve · priority 880</a:t>
            </a:r>
            <a:endParaRPr lang="en-US" sz="1450" dirty="0"/>
          </a:p>
        </p:txBody>
      </p:sp>
      <p:sp>
        <p:nvSpPr>
          <p:cNvPr id="14" name="Text 11"/>
          <p:cNvSpPr txBox="1"/>
          <p:nvPr/>
        </p:nvSpPr>
        <p:spPr>
          <a:xfrm>
            <a:off x="6419850" y="3048000"/>
            <a:ext cx="4953000" cy="762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Backtest: a rule on reported fraud matches all 11 stolen-card reports, but each still goes to the fraud team first. Confirmation comes later.</a:t>
            </a:r>
            <a:endParaRPr lang="en-US" sz="1450" dirty="0"/>
          </a:p>
        </p:txBody>
      </p:sp>
      <p:sp>
        <p:nvSpPr>
          <p:cNvPr id="15" name="Text 12"/>
          <p:cNvSpPr txBox="1"/>
          <p:nvPr/>
        </p:nvSpPr>
        <p:spPr>
          <a:xfrm>
            <a:off x="609600" y="4076700"/>
            <a:ext cx="10972800" cy="533400"/>
          </a:xfrm>
          <a:prstGeom prst="rect">
            <a:avLst/>
          </a:prstGeom>
          <a:noFill/>
          <a:ln/>
        </p:spPr>
        <p:txBody>
          <a:bodyPr wrap="square" lIns="0" tIns="0" rIns="0" bIns="0" rtlCol="0" anchor="t"/>
          <a:lstStyle/>
          <a:p>
            <a:pPr indent="0" marL="0">
              <a:buNone/>
            </a:pPr>
            <a:r>
              <a:rPr lang="en-US" sz="1350" dirty="0">
                <a:solidFill>
                  <a:srgbClr val="183F35"/>
                </a:solidFill>
                <a:latin typeface="Arial" pitchFamily="34" charset="0"/>
                <a:ea typeface="Arial" pitchFamily="34" charset="-122"/>
                <a:cs typeface="Arial" pitchFamily="34" charset="-120"/>
              </a:rPr>
              <a:t>Both rules are in v2. AI drafts always return a rule, with vague wording read the safe way. Priority decides between rules: a confirmed stolen card above $300 still comes to Review.</a:t>
            </a:r>
            <a:endParaRPr lang="en-US" sz="1350" dirty="0"/>
          </a:p>
        </p:txBody>
      </p:sp>
      <p:sp>
        <p:nvSpPr>
          <p:cNvPr id="16" name="Shape 13"/>
          <p:cNvSpPr/>
          <p:nvPr/>
        </p:nvSpPr>
        <p:spPr>
          <a:xfrm>
            <a:off x="609600" y="4876800"/>
            <a:ext cx="2381250" cy="914400"/>
          </a:xfrm>
          <a:prstGeom prst="rect">
            <a:avLst/>
          </a:prstGeom>
          <a:solidFill>
            <a:srgbClr val="E1ECF8"/>
          </a:solidFill>
          <a:ln w="12700">
            <a:solidFill>
              <a:srgbClr val="93ABA0"/>
            </a:solidFill>
            <a:prstDash val="solid"/>
          </a:ln>
        </p:spPr>
      </p:sp>
      <p:sp>
        <p:nvSpPr>
          <p:cNvPr id="17" name="Text 14"/>
          <p:cNvSpPr txBox="1"/>
          <p:nvPr/>
        </p:nvSpPr>
        <p:spPr>
          <a:xfrm>
            <a:off x="762000" y="5000625"/>
            <a:ext cx="2076450" cy="272415"/>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Draft</a:t>
            </a:r>
            <a:endParaRPr lang="en-US" sz="1650" dirty="0"/>
          </a:p>
        </p:txBody>
      </p:sp>
      <p:sp>
        <p:nvSpPr>
          <p:cNvPr id="18" name="Text 15"/>
          <p:cNvSpPr txBox="1"/>
          <p:nvPr/>
        </p:nvSpPr>
        <p:spPr>
          <a:xfrm>
            <a:off x="762000" y="5321618"/>
            <a:ext cx="2076450" cy="402908"/>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Edit inline or describe</a:t>
            </a:r>
            <a:endParaRPr lang="en-US" sz="1350" dirty="0"/>
          </a:p>
        </p:txBody>
      </p:sp>
      <p:sp>
        <p:nvSpPr>
          <p:cNvPr id="19" name="Shape 16"/>
          <p:cNvSpPr/>
          <p:nvPr/>
        </p:nvSpPr>
        <p:spPr>
          <a:xfrm>
            <a:off x="3333750" y="4876800"/>
            <a:ext cx="2381250" cy="914400"/>
          </a:xfrm>
          <a:prstGeom prst="rect">
            <a:avLst/>
          </a:prstGeom>
          <a:solidFill>
            <a:srgbClr val="EAE5F5"/>
          </a:solidFill>
          <a:ln w="12700">
            <a:solidFill>
              <a:srgbClr val="93ABA0"/>
            </a:solidFill>
            <a:prstDash val="solid"/>
          </a:ln>
        </p:spPr>
      </p:sp>
      <p:sp>
        <p:nvSpPr>
          <p:cNvPr id="20" name="Text 17"/>
          <p:cNvSpPr txBox="1"/>
          <p:nvPr/>
        </p:nvSpPr>
        <p:spPr>
          <a:xfrm>
            <a:off x="3486150" y="5000625"/>
            <a:ext cx="2076450" cy="272415"/>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Backtest</a:t>
            </a:r>
            <a:endParaRPr lang="en-US" sz="1650" dirty="0"/>
          </a:p>
        </p:txBody>
      </p:sp>
      <p:sp>
        <p:nvSpPr>
          <p:cNvPr id="21" name="Text 18"/>
          <p:cNvSpPr txBox="1"/>
          <p:nvPr/>
        </p:nvSpPr>
        <p:spPr>
          <a:xfrm>
            <a:off x="3486150" y="5321618"/>
            <a:ext cx="2076450" cy="402908"/>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248 historical requests</a:t>
            </a:r>
            <a:endParaRPr lang="en-US" sz="1350" dirty="0"/>
          </a:p>
        </p:txBody>
      </p:sp>
      <p:sp>
        <p:nvSpPr>
          <p:cNvPr id="22" name="Shape 19"/>
          <p:cNvSpPr/>
          <p:nvPr/>
        </p:nvSpPr>
        <p:spPr>
          <a:xfrm>
            <a:off x="6057900" y="4876800"/>
            <a:ext cx="2381250" cy="914400"/>
          </a:xfrm>
          <a:prstGeom prst="rect">
            <a:avLst/>
          </a:prstGeom>
          <a:solidFill>
            <a:srgbClr val="F6EBCF"/>
          </a:solidFill>
          <a:ln w="12700">
            <a:solidFill>
              <a:srgbClr val="93ABA0"/>
            </a:solidFill>
            <a:prstDash val="solid"/>
          </a:ln>
        </p:spPr>
      </p:sp>
      <p:sp>
        <p:nvSpPr>
          <p:cNvPr id="23" name="Text 20"/>
          <p:cNvSpPr txBox="1"/>
          <p:nvPr/>
        </p:nvSpPr>
        <p:spPr>
          <a:xfrm>
            <a:off x="6210300" y="5000625"/>
            <a:ext cx="2076450" cy="272415"/>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Shadowtest</a:t>
            </a:r>
            <a:endParaRPr lang="en-US" sz="1650" dirty="0"/>
          </a:p>
        </p:txBody>
      </p:sp>
      <p:sp>
        <p:nvSpPr>
          <p:cNvPr id="24" name="Text 21"/>
          <p:cNvSpPr txBox="1"/>
          <p:nvPr/>
        </p:nvSpPr>
        <p:spPr>
          <a:xfrm>
            <a:off x="6210300" y="5321618"/>
            <a:ext cx="2076450" cy="402908"/>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Live queue, no payments</a:t>
            </a:r>
            <a:endParaRPr lang="en-US" sz="1350" dirty="0"/>
          </a:p>
        </p:txBody>
      </p:sp>
      <p:sp>
        <p:nvSpPr>
          <p:cNvPr id="25" name="Shape 22"/>
          <p:cNvSpPr/>
          <p:nvPr/>
        </p:nvSpPr>
        <p:spPr>
          <a:xfrm>
            <a:off x="8782050" y="4876800"/>
            <a:ext cx="2800350" cy="914400"/>
          </a:xfrm>
          <a:prstGeom prst="rect">
            <a:avLst/>
          </a:prstGeom>
          <a:solidFill>
            <a:srgbClr val="DBEEE4"/>
          </a:solidFill>
          <a:ln w="12700">
            <a:solidFill>
              <a:srgbClr val="93ABA0"/>
            </a:solidFill>
            <a:prstDash val="solid"/>
          </a:ln>
        </p:spPr>
      </p:sp>
      <p:sp>
        <p:nvSpPr>
          <p:cNvPr id="26" name="Text 23"/>
          <p:cNvSpPr txBox="1"/>
          <p:nvPr/>
        </p:nvSpPr>
        <p:spPr>
          <a:xfrm>
            <a:off x="8934450" y="5000625"/>
            <a:ext cx="2495550" cy="272415"/>
          </a:xfrm>
          <a:prstGeom prst="rect">
            <a:avLst/>
          </a:prstGeom>
          <a:noFill/>
          <a:ln/>
        </p:spPr>
        <p:txBody>
          <a:bodyPr wrap="square" lIns="0" tIns="0" rIns="0" bIns="0" rtlCol="0" anchor="t"/>
          <a:lstStyle/>
          <a:p>
            <a:pPr indent="0" marL="0">
              <a:buNone/>
            </a:pPr>
            <a:r>
              <a:rPr lang="en-US" sz="1650" b="1" dirty="0">
                <a:solidFill>
                  <a:srgbClr val="183F35"/>
                </a:solidFill>
                <a:latin typeface="Arial" pitchFamily="34" charset="0"/>
                <a:ea typeface="Arial" pitchFamily="34" charset="-122"/>
                <a:cs typeface="Arial" pitchFamily="34" charset="-120"/>
              </a:rPr>
              <a:t>Release</a:t>
            </a:r>
            <a:endParaRPr lang="en-US" sz="1650" dirty="0"/>
          </a:p>
        </p:txBody>
      </p:sp>
      <p:sp>
        <p:nvSpPr>
          <p:cNvPr id="27" name="Text 24"/>
          <p:cNvSpPr txBox="1"/>
          <p:nvPr/>
        </p:nvSpPr>
        <p:spPr>
          <a:xfrm>
            <a:off x="8934450" y="5321618"/>
            <a:ext cx="2495550" cy="402908"/>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Checks pass · rollback ready</a:t>
            </a:r>
            <a:endParaRPr lang="en-US" sz="1350" dirty="0"/>
          </a:p>
        </p:txBody>
      </p:sp>
      <p:sp>
        <p:nvSpPr>
          <p:cNvPr id="28" name="Shape 25"/>
          <p:cNvSpPr/>
          <p:nvPr/>
        </p:nvSpPr>
        <p:spPr>
          <a:xfrm>
            <a:off x="2990850" y="5334000"/>
            <a:ext cx="342900" cy="0"/>
          </a:xfrm>
          <a:prstGeom prst="line">
            <a:avLst/>
          </a:prstGeom>
          <a:noFill/>
          <a:ln w="22860">
            <a:solidFill>
              <a:srgbClr val="93ABA0"/>
            </a:solidFill>
            <a:prstDash val="solid"/>
            <a:tailEnd type="triangle"/>
          </a:ln>
        </p:spPr>
      </p:sp>
      <p:sp>
        <p:nvSpPr>
          <p:cNvPr id="29" name="Shape 26"/>
          <p:cNvSpPr/>
          <p:nvPr/>
        </p:nvSpPr>
        <p:spPr>
          <a:xfrm>
            <a:off x="5715000" y="5334000"/>
            <a:ext cx="342900" cy="0"/>
          </a:xfrm>
          <a:prstGeom prst="line">
            <a:avLst/>
          </a:prstGeom>
          <a:noFill/>
          <a:ln w="22860">
            <a:solidFill>
              <a:srgbClr val="93ABA0"/>
            </a:solidFill>
            <a:prstDash val="solid"/>
            <a:tailEnd type="triangle"/>
          </a:ln>
        </p:spPr>
      </p:sp>
      <p:sp>
        <p:nvSpPr>
          <p:cNvPr id="30" name="Shape 27"/>
          <p:cNvSpPr/>
          <p:nvPr/>
        </p:nvSpPr>
        <p:spPr>
          <a:xfrm>
            <a:off x="8439150" y="5334000"/>
            <a:ext cx="342900" cy="0"/>
          </a:xfrm>
          <a:prstGeom prst="line">
            <a:avLst/>
          </a:prstGeom>
          <a:noFill/>
          <a:ln w="22860">
            <a:solidFill>
              <a:srgbClr val="93ABA0"/>
            </a:solidFill>
            <a:prstDash val="solid"/>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AI reads meaning. Code controls money.</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The model answers predefined questions with quotes. It never approves, sets an amount or pays.</a:t>
            </a:r>
            <a:endParaRPr lang="en-US" sz="1650" dirty="0"/>
          </a:p>
        </p:txBody>
      </p:sp>
      <p:sp>
        <p:nvSpPr>
          <p:cNvPr id="5" name="Shape 2"/>
          <p:cNvSpPr/>
          <p:nvPr/>
        </p:nvSpPr>
        <p:spPr>
          <a:xfrm>
            <a:off x="609600" y="1562100"/>
            <a:ext cx="2381250" cy="1428750"/>
          </a:xfrm>
          <a:prstGeom prst="rect">
            <a:avLst/>
          </a:prstGeom>
          <a:solidFill>
            <a:srgbClr val="E1ECF8"/>
          </a:solidFill>
          <a:ln w="12700">
            <a:solidFill>
              <a:srgbClr val="93ABA0"/>
            </a:solidFill>
            <a:prstDash val="solid"/>
          </a:ln>
        </p:spPr>
      </p:sp>
      <p:sp>
        <p:nvSpPr>
          <p:cNvPr id="6" name="Text 3"/>
          <p:cNvSpPr txBox="1"/>
          <p:nvPr/>
        </p:nvSpPr>
        <p:spPr>
          <a:xfrm>
            <a:off x="762000" y="1685925"/>
            <a:ext cx="2076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Source input</a:t>
            </a:r>
            <a:endParaRPr lang="en-US" sz="1750" dirty="0"/>
          </a:p>
        </p:txBody>
      </p:sp>
      <p:sp>
        <p:nvSpPr>
          <p:cNvPr id="7" name="Text 4"/>
          <p:cNvSpPr txBox="1"/>
          <p:nvPr/>
        </p:nvSpPr>
        <p:spPr>
          <a:xfrm>
            <a:off x="762000" y="2019776"/>
            <a:ext cx="2076450" cy="90439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Allowed fields + both notes; outcomes excluded</a:t>
            </a:r>
            <a:endParaRPr lang="en-US" sz="1450" dirty="0"/>
          </a:p>
        </p:txBody>
      </p:sp>
      <p:sp>
        <p:nvSpPr>
          <p:cNvPr id="8" name="Shape 5"/>
          <p:cNvSpPr/>
          <p:nvPr/>
        </p:nvSpPr>
        <p:spPr>
          <a:xfrm>
            <a:off x="3333750" y="1562100"/>
            <a:ext cx="2381250" cy="1428750"/>
          </a:xfrm>
          <a:prstGeom prst="rect">
            <a:avLst/>
          </a:prstGeom>
          <a:solidFill>
            <a:srgbClr val="EAE5F5"/>
          </a:solidFill>
          <a:ln w="12700">
            <a:solidFill>
              <a:srgbClr val="93ABA0"/>
            </a:solidFill>
            <a:prstDash val="solid"/>
          </a:ln>
        </p:spPr>
      </p:sp>
      <p:sp>
        <p:nvSpPr>
          <p:cNvPr id="9" name="Text 6"/>
          <p:cNvSpPr txBox="1"/>
          <p:nvPr/>
        </p:nvSpPr>
        <p:spPr>
          <a:xfrm>
            <a:off x="3486150" y="1685925"/>
            <a:ext cx="2076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LLM extraction</a:t>
            </a:r>
            <a:endParaRPr lang="en-US" sz="1750" dirty="0"/>
          </a:p>
        </p:txBody>
      </p:sp>
      <p:sp>
        <p:nvSpPr>
          <p:cNvPr id="10" name="Text 7"/>
          <p:cNvSpPr txBox="1"/>
          <p:nvPr/>
        </p:nvSpPr>
        <p:spPr>
          <a:xfrm>
            <a:off x="3486150" y="2019776"/>
            <a:ext cx="2076450" cy="90439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21 predefined facts with exact quotes</a:t>
            </a:r>
            <a:endParaRPr lang="en-US" sz="1450" dirty="0"/>
          </a:p>
        </p:txBody>
      </p:sp>
      <p:sp>
        <p:nvSpPr>
          <p:cNvPr id="11" name="Shape 8"/>
          <p:cNvSpPr/>
          <p:nvPr/>
        </p:nvSpPr>
        <p:spPr>
          <a:xfrm>
            <a:off x="6057900" y="1562100"/>
            <a:ext cx="2381250" cy="1428750"/>
          </a:xfrm>
          <a:prstGeom prst="rect">
            <a:avLst/>
          </a:prstGeom>
          <a:solidFill>
            <a:srgbClr val="E1ECF8"/>
          </a:solidFill>
          <a:ln w="12700">
            <a:solidFill>
              <a:srgbClr val="93ABA0"/>
            </a:solidFill>
            <a:prstDash val="solid"/>
          </a:ln>
        </p:spPr>
      </p:sp>
      <p:sp>
        <p:nvSpPr>
          <p:cNvPr id="12" name="Text 9"/>
          <p:cNvSpPr txBox="1"/>
          <p:nvPr/>
        </p:nvSpPr>
        <p:spPr>
          <a:xfrm>
            <a:off x="6210300" y="1685925"/>
            <a:ext cx="20764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Validation</a:t>
            </a:r>
            <a:endParaRPr lang="en-US" sz="1750" dirty="0"/>
          </a:p>
        </p:txBody>
      </p:sp>
      <p:sp>
        <p:nvSpPr>
          <p:cNvPr id="13" name="Text 10"/>
          <p:cNvSpPr txBox="1"/>
          <p:nvPr/>
        </p:nvSpPr>
        <p:spPr>
          <a:xfrm>
            <a:off x="6210300" y="2019776"/>
            <a:ext cx="2076450" cy="90439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Schema + quotes; unknown stays unknown</a:t>
            </a:r>
            <a:endParaRPr lang="en-US" sz="1450" dirty="0"/>
          </a:p>
        </p:txBody>
      </p:sp>
      <p:sp>
        <p:nvSpPr>
          <p:cNvPr id="14" name="Shape 11"/>
          <p:cNvSpPr/>
          <p:nvPr/>
        </p:nvSpPr>
        <p:spPr>
          <a:xfrm>
            <a:off x="8782050" y="1562100"/>
            <a:ext cx="2800350" cy="1428750"/>
          </a:xfrm>
          <a:prstGeom prst="rect">
            <a:avLst/>
          </a:prstGeom>
          <a:solidFill>
            <a:srgbClr val="DBEEE4"/>
          </a:solidFill>
          <a:ln w="12700">
            <a:solidFill>
              <a:srgbClr val="93ABA0"/>
            </a:solidFill>
            <a:prstDash val="solid"/>
          </a:ln>
        </p:spPr>
      </p:sp>
      <p:sp>
        <p:nvSpPr>
          <p:cNvPr id="15" name="Text 12"/>
          <p:cNvSpPr txBox="1"/>
          <p:nvPr/>
        </p:nvSpPr>
        <p:spPr>
          <a:xfrm>
            <a:off x="8934450" y="1685925"/>
            <a:ext cx="2495550" cy="284798"/>
          </a:xfrm>
          <a:prstGeom prst="rect">
            <a:avLst/>
          </a:prstGeom>
          <a:noFill/>
          <a:ln/>
        </p:spPr>
        <p:txBody>
          <a:bodyPr wrap="square" lIns="0" tIns="0" rIns="0" bIns="0" rtlCol="0" anchor="t"/>
          <a:lstStyle/>
          <a:p>
            <a:pPr indent="0" marL="0">
              <a:buNone/>
            </a:pPr>
            <a:r>
              <a:rPr lang="en-US" sz="1750" b="1" dirty="0">
                <a:solidFill>
                  <a:srgbClr val="183F35"/>
                </a:solidFill>
                <a:latin typeface="Arial" pitchFamily="34" charset="0"/>
                <a:ea typeface="Arial" pitchFamily="34" charset="-122"/>
                <a:cs typeface="Arial" pitchFamily="34" charset="-120"/>
              </a:rPr>
              <a:t>Rules + checks</a:t>
            </a:r>
            <a:endParaRPr lang="en-US" sz="1750" dirty="0"/>
          </a:p>
        </p:txBody>
      </p:sp>
      <p:sp>
        <p:nvSpPr>
          <p:cNvPr id="16" name="Text 13"/>
          <p:cNvSpPr txBox="1"/>
          <p:nvPr/>
        </p:nvSpPr>
        <p:spPr>
          <a:xfrm>
            <a:off x="8934450" y="2019776"/>
            <a:ext cx="2495550" cy="904399"/>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Python decides route, amount and payment</a:t>
            </a:r>
            <a:endParaRPr lang="en-US" sz="1450" dirty="0"/>
          </a:p>
        </p:txBody>
      </p:sp>
      <p:sp>
        <p:nvSpPr>
          <p:cNvPr id="17" name="Shape 14"/>
          <p:cNvSpPr/>
          <p:nvPr/>
        </p:nvSpPr>
        <p:spPr>
          <a:xfrm>
            <a:off x="2990850" y="2276475"/>
            <a:ext cx="342900" cy="0"/>
          </a:xfrm>
          <a:prstGeom prst="line">
            <a:avLst/>
          </a:prstGeom>
          <a:noFill/>
          <a:ln w="22860">
            <a:solidFill>
              <a:srgbClr val="93ABA0"/>
            </a:solidFill>
            <a:prstDash val="solid"/>
            <a:tailEnd type="triangle"/>
          </a:ln>
        </p:spPr>
      </p:sp>
      <p:sp>
        <p:nvSpPr>
          <p:cNvPr id="18" name="Shape 15"/>
          <p:cNvSpPr/>
          <p:nvPr/>
        </p:nvSpPr>
        <p:spPr>
          <a:xfrm>
            <a:off x="5715000" y="2276475"/>
            <a:ext cx="342900" cy="0"/>
          </a:xfrm>
          <a:prstGeom prst="line">
            <a:avLst/>
          </a:prstGeom>
          <a:noFill/>
          <a:ln w="22860">
            <a:solidFill>
              <a:srgbClr val="93ABA0"/>
            </a:solidFill>
            <a:prstDash val="solid"/>
            <a:tailEnd type="triangle"/>
          </a:ln>
        </p:spPr>
      </p:sp>
      <p:sp>
        <p:nvSpPr>
          <p:cNvPr id="19" name="Shape 16"/>
          <p:cNvSpPr/>
          <p:nvPr/>
        </p:nvSpPr>
        <p:spPr>
          <a:xfrm>
            <a:off x="8439150" y="2276475"/>
            <a:ext cx="342900" cy="0"/>
          </a:xfrm>
          <a:prstGeom prst="line">
            <a:avLst/>
          </a:prstGeom>
          <a:noFill/>
          <a:ln w="22860">
            <a:solidFill>
              <a:srgbClr val="93ABA0"/>
            </a:solidFill>
            <a:prstDash val="solid"/>
            <a:tailEnd type="triangle"/>
          </a:ln>
        </p:spPr>
      </p:sp>
      <p:sp>
        <p:nvSpPr>
          <p:cNvPr id="20" name="Text 17"/>
          <p:cNvSpPr txBox="1"/>
          <p:nvPr/>
        </p:nvSpPr>
        <p:spPr>
          <a:xfrm>
            <a:off x="609600" y="3295650"/>
            <a:ext cx="57150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MODEL, COST AND EVALUATION</a:t>
            </a:r>
            <a:endParaRPr lang="en-US" sz="1300" dirty="0"/>
          </a:p>
        </p:txBody>
      </p:sp>
      <p:sp>
        <p:nvSpPr>
          <p:cNvPr id="21" name="Shape 18"/>
          <p:cNvSpPr/>
          <p:nvPr/>
        </p:nvSpPr>
        <p:spPr>
          <a:xfrm>
            <a:off x="609600" y="3600450"/>
            <a:ext cx="2571750" cy="1905000"/>
          </a:xfrm>
          <a:prstGeom prst="rect">
            <a:avLst/>
          </a:prstGeom>
          <a:solidFill>
            <a:srgbClr val="FFFFFF"/>
          </a:solidFill>
          <a:ln w="12700">
            <a:solidFill>
              <a:srgbClr val="93ABA0"/>
            </a:solidFill>
            <a:prstDash val="solid"/>
          </a:ln>
        </p:spPr>
      </p:sp>
      <p:sp>
        <p:nvSpPr>
          <p:cNvPr id="22" name="Text 19"/>
          <p:cNvSpPr txBox="1"/>
          <p:nvPr/>
        </p:nvSpPr>
        <p:spPr>
          <a:xfrm>
            <a:off x="781050" y="3752850"/>
            <a:ext cx="2228850" cy="457200"/>
          </a:xfrm>
          <a:prstGeom prst="rect">
            <a:avLst/>
          </a:prstGeom>
          <a:noFill/>
          <a:ln/>
        </p:spPr>
        <p:txBody>
          <a:bodyPr wrap="square" lIns="0" tIns="0" rIns="0" bIns="0" rtlCol="0" anchor="t"/>
          <a:lstStyle/>
          <a:p>
            <a:pPr indent="0" marL="0">
              <a:buNone/>
            </a:pPr>
            <a:r>
              <a:rPr lang="en-US" sz="2700" b="1" dirty="0">
                <a:solidFill>
                  <a:srgbClr val="183F35"/>
                </a:solidFill>
                <a:latin typeface="Arial" pitchFamily="34" charset="0"/>
                <a:ea typeface="Arial" pitchFamily="34" charset="-122"/>
                <a:cs typeface="Arial" pitchFamily="34" charset="-120"/>
              </a:rPr>
              <a:t>gpt-6.1-sol</a:t>
            </a:r>
            <a:endParaRPr lang="en-US" sz="2700" dirty="0"/>
          </a:p>
        </p:txBody>
      </p:sp>
      <p:sp>
        <p:nvSpPr>
          <p:cNvPr id="23" name="Text 20"/>
          <p:cNvSpPr txBox="1"/>
          <p:nvPr/>
        </p:nvSpPr>
        <p:spPr>
          <a:xfrm>
            <a:off x="781050" y="42862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via OpenAI (default) or OpenRouter; chosen for multilingual notes read against structured fields</a:t>
            </a:r>
            <a:endParaRPr lang="en-US" sz="1350" dirty="0"/>
          </a:p>
        </p:txBody>
      </p:sp>
      <p:sp>
        <p:nvSpPr>
          <p:cNvPr id="24" name="Shape 21"/>
          <p:cNvSpPr/>
          <p:nvPr/>
        </p:nvSpPr>
        <p:spPr>
          <a:xfrm>
            <a:off x="3409950" y="3600450"/>
            <a:ext cx="2571750" cy="1905000"/>
          </a:xfrm>
          <a:prstGeom prst="rect">
            <a:avLst/>
          </a:prstGeom>
          <a:solidFill>
            <a:srgbClr val="FFFFFF"/>
          </a:solidFill>
          <a:ln w="12700">
            <a:solidFill>
              <a:srgbClr val="93ABA0"/>
            </a:solidFill>
            <a:prstDash val="solid"/>
          </a:ln>
        </p:spPr>
      </p:sp>
      <p:sp>
        <p:nvSpPr>
          <p:cNvPr id="25" name="Text 22"/>
          <p:cNvSpPr txBox="1"/>
          <p:nvPr/>
        </p:nvSpPr>
        <p:spPr>
          <a:xfrm>
            <a:off x="3581400" y="3752850"/>
            <a:ext cx="2228850" cy="457200"/>
          </a:xfrm>
          <a:prstGeom prst="rect">
            <a:avLst/>
          </a:prstGeom>
          <a:noFill/>
          <a:ln/>
        </p:spPr>
        <p:txBody>
          <a:bodyPr wrap="square" lIns="0" tIns="0" rIns="0" bIns="0" rtlCol="0" anchor="t"/>
          <a:lstStyle/>
          <a:p>
            <a:pPr indent="0" marL="0">
              <a:buNone/>
            </a:pPr>
            <a:r>
              <a:rPr lang="en-US" sz="2700" b="1" dirty="0">
                <a:solidFill>
                  <a:srgbClr val="183F35"/>
                </a:solidFill>
                <a:latin typeface="Arial" pitchFamily="34" charset="0"/>
                <a:ea typeface="Arial" pitchFamily="34" charset="-122"/>
                <a:cs typeface="Arial" pitchFamily="34" charset="-120"/>
              </a:rPr>
              <a:t>≈ $0.005</a:t>
            </a:r>
            <a:endParaRPr lang="en-US" sz="2700" dirty="0"/>
          </a:p>
        </p:txBody>
      </p:sp>
      <p:sp>
        <p:nvSpPr>
          <p:cNvPr id="26" name="Text 23"/>
          <p:cNvSpPr txBox="1"/>
          <p:nvPr/>
        </p:nvSpPr>
        <p:spPr>
          <a:xfrm>
            <a:off x="3581400" y="42862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per request: 268 calls, $1.25 in total (OpenRouter-reported); median 5–7 s</a:t>
            </a:r>
            <a:endParaRPr lang="en-US" sz="1350" dirty="0"/>
          </a:p>
        </p:txBody>
      </p:sp>
      <p:sp>
        <p:nvSpPr>
          <p:cNvPr id="27" name="Shape 24"/>
          <p:cNvSpPr/>
          <p:nvPr/>
        </p:nvSpPr>
        <p:spPr>
          <a:xfrm>
            <a:off x="6210300" y="3600450"/>
            <a:ext cx="2571750" cy="1905000"/>
          </a:xfrm>
          <a:prstGeom prst="rect">
            <a:avLst/>
          </a:prstGeom>
          <a:solidFill>
            <a:srgbClr val="FFFFFF"/>
          </a:solidFill>
          <a:ln w="12700">
            <a:solidFill>
              <a:srgbClr val="93ABA0"/>
            </a:solidFill>
            <a:prstDash val="solid"/>
          </a:ln>
        </p:spPr>
      </p:sp>
      <p:sp>
        <p:nvSpPr>
          <p:cNvPr id="28" name="Text 25"/>
          <p:cNvSpPr txBox="1"/>
          <p:nvPr/>
        </p:nvSpPr>
        <p:spPr>
          <a:xfrm>
            <a:off x="6381750" y="3752850"/>
            <a:ext cx="2228850" cy="457200"/>
          </a:xfrm>
          <a:prstGeom prst="rect">
            <a:avLst/>
          </a:prstGeom>
          <a:noFill/>
          <a:ln/>
        </p:spPr>
        <p:txBody>
          <a:bodyPr wrap="square" lIns="0" tIns="0" rIns="0" bIns="0" rtlCol="0" anchor="t"/>
          <a:lstStyle/>
          <a:p>
            <a:pPr indent="0" marL="0">
              <a:buNone/>
            </a:pPr>
            <a:r>
              <a:rPr lang="en-US" sz="2700" b="1" dirty="0">
                <a:solidFill>
                  <a:srgbClr val="183F35"/>
                </a:solidFill>
                <a:latin typeface="Arial" pitchFamily="34" charset="0"/>
                <a:ea typeface="Arial" pitchFamily="34" charset="-122"/>
                <a:cs typeface="Arial" pitchFamily="34" charset="-120"/>
              </a:rPr>
              <a:t>20 / 20</a:t>
            </a:r>
            <a:endParaRPr lang="en-US" sz="2700" dirty="0"/>
          </a:p>
        </p:txBody>
      </p:sp>
      <p:sp>
        <p:nvSpPr>
          <p:cNvPr id="29" name="Text 26"/>
          <p:cNvSpPr txBox="1"/>
          <p:nvPr/>
        </p:nvSpPr>
        <p:spPr>
          <a:xfrm>
            <a:off x="6381750" y="42862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pending acceptance cases; v2 routing matched 20/20 through OpenAI; gpt-5.4-mini passed 14/20</a:t>
            </a:r>
            <a:endParaRPr lang="en-US" sz="1350" dirty="0"/>
          </a:p>
        </p:txBody>
      </p:sp>
      <p:sp>
        <p:nvSpPr>
          <p:cNvPr id="30" name="Shape 27"/>
          <p:cNvSpPr/>
          <p:nvPr/>
        </p:nvSpPr>
        <p:spPr>
          <a:xfrm>
            <a:off x="9010650" y="3600450"/>
            <a:ext cx="2571750" cy="1905000"/>
          </a:xfrm>
          <a:prstGeom prst="rect">
            <a:avLst/>
          </a:prstGeom>
          <a:solidFill>
            <a:srgbClr val="FFFFFF"/>
          </a:solidFill>
          <a:ln w="12700">
            <a:solidFill>
              <a:srgbClr val="93ABA0"/>
            </a:solidFill>
            <a:prstDash val="solid"/>
          </a:ln>
        </p:spPr>
      </p:sp>
      <p:sp>
        <p:nvSpPr>
          <p:cNvPr id="31" name="Text 28"/>
          <p:cNvSpPr txBox="1"/>
          <p:nvPr/>
        </p:nvSpPr>
        <p:spPr>
          <a:xfrm>
            <a:off x="9182100" y="3752850"/>
            <a:ext cx="2228850" cy="457200"/>
          </a:xfrm>
          <a:prstGeom prst="rect">
            <a:avLst/>
          </a:prstGeom>
          <a:noFill/>
          <a:ln/>
        </p:spPr>
        <p:txBody>
          <a:bodyPr wrap="square" lIns="0" tIns="0" rIns="0" bIns="0" rtlCol="0" anchor="t"/>
          <a:lstStyle/>
          <a:p>
            <a:pPr indent="0" marL="0">
              <a:buNone/>
            </a:pPr>
            <a:r>
              <a:rPr lang="en-US" sz="2700" b="1" dirty="0">
                <a:solidFill>
                  <a:srgbClr val="183F35"/>
                </a:solidFill>
                <a:latin typeface="Arial" pitchFamily="34" charset="0"/>
                <a:ea typeface="Arial" pitchFamily="34" charset="-122"/>
                <a:cs typeface="Arial" pitchFamily="34" charset="-120"/>
              </a:rPr>
              <a:t>248 / 248</a:t>
            </a:r>
            <a:endParaRPr lang="en-US" sz="2700" dirty="0"/>
          </a:p>
        </p:txBody>
      </p:sp>
      <p:sp>
        <p:nvSpPr>
          <p:cNvPr id="32" name="Text 29"/>
          <p:cNvSpPr txBox="1"/>
          <p:nvPr/>
        </p:nvSpPr>
        <p:spPr>
          <a:xfrm>
            <a:off x="9182100" y="4286250"/>
            <a:ext cx="2228850" cy="110490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historical extractions complete and validated against quotes</a:t>
            </a:r>
            <a:endParaRPr lang="en-US" sz="1350" dirty="0"/>
          </a:p>
        </p:txBody>
      </p:sp>
      <p:sp>
        <p:nvSpPr>
          <p:cNvPr id="33" name="Text 30"/>
          <p:cNvSpPr txBox="1"/>
          <p:nvPr/>
        </p:nvSpPr>
        <p:spPr>
          <a:xfrm>
            <a:off x="609600" y="6229350"/>
            <a:ext cx="10972800" cy="381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Not AI: routes, amounts, payments, limits, rule discovery and metrics. AI also drafts rules that the manager reviews.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How we would know the line is wrong</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Before switching on: Backtest and Shadowtest. After: the same few numbers every week.</a:t>
            </a:r>
            <a:endParaRPr lang="en-US" sz="1650" dirty="0"/>
          </a:p>
        </p:txBody>
      </p:sp>
      <p:sp>
        <p:nvSpPr>
          <p:cNvPr id="5" name="Text 2"/>
          <p:cNvSpPr txBox="1"/>
          <p:nvPr/>
        </p:nvSpPr>
        <p:spPr>
          <a:xfrm>
            <a:off x="609600" y="1524000"/>
            <a:ext cx="57150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THE FEW NUMBERS</a:t>
            </a:r>
            <a:endParaRPr lang="en-US" sz="1300" dirty="0"/>
          </a:p>
        </p:txBody>
      </p:sp>
      <p:sp>
        <p:nvSpPr>
          <p:cNvPr id="6" name="Text 3"/>
          <p:cNvSpPr txBox="1"/>
          <p:nvPr/>
        </p:nvSpPr>
        <p:spPr>
          <a:xfrm>
            <a:off x="4229100" y="1524000"/>
            <a:ext cx="5715000" cy="247650"/>
          </a:xfrm>
          <a:prstGeom prst="rect">
            <a:avLst/>
          </a:prstGeom>
          <a:noFill/>
          <a:ln/>
        </p:spPr>
        <p:txBody>
          <a:bodyPr wrap="square" lIns="0" tIns="0" rIns="0" bIns="0" rtlCol="0" anchor="t"/>
          <a:lstStyle/>
          <a:p>
            <a:pPr indent="0" marL="0">
              <a:buNone/>
            </a:pPr>
            <a:r>
              <a:rPr lang="en-US" sz="1300" b="1" dirty="0">
                <a:solidFill>
                  <a:srgbClr val="52655E"/>
                </a:solidFill>
                <a:latin typeface="Arial" pitchFamily="34" charset="0"/>
                <a:ea typeface="Arial" pitchFamily="34" charset="-122"/>
                <a:cs typeface="Arial" pitchFamily="34" charset="-120"/>
              </a:rPr>
              <a:t>GOOD LOOKS LIKE</a:t>
            </a:r>
            <a:endParaRPr lang="en-US" sz="1300" dirty="0"/>
          </a:p>
        </p:txBody>
      </p:sp>
      <p:sp>
        <p:nvSpPr>
          <p:cNvPr id="7" name="Shape 4"/>
          <p:cNvSpPr/>
          <p:nvPr/>
        </p:nvSpPr>
        <p:spPr>
          <a:xfrm>
            <a:off x="609600" y="1828800"/>
            <a:ext cx="3429000" cy="819150"/>
          </a:xfrm>
          <a:prstGeom prst="rect">
            <a:avLst/>
          </a:prstGeom>
          <a:solidFill>
            <a:srgbClr val="E1ECF8"/>
          </a:solidFill>
          <a:ln w="12700">
            <a:solidFill>
              <a:srgbClr val="93ABA0"/>
            </a:solidFill>
            <a:prstDash val="solid"/>
          </a:ln>
        </p:spPr>
      </p:sp>
      <p:sp>
        <p:nvSpPr>
          <p:cNvPr id="8" name="Text 5"/>
          <p:cNvSpPr txBox="1"/>
          <p:nvPr/>
        </p:nvSpPr>
        <p:spPr>
          <a:xfrm>
            <a:off x="781050" y="1962150"/>
            <a:ext cx="3086100" cy="571500"/>
          </a:xfrm>
          <a:prstGeom prst="rect">
            <a:avLst/>
          </a:prstGeom>
          <a:noFill/>
          <a:ln/>
        </p:spPr>
        <p:txBody>
          <a:bodyPr wrap="square" lIns="0" tIns="0" rIns="0" bIns="0" rtlCol="0" anchor="t"/>
          <a:lstStyle/>
          <a:p>
            <a:pPr indent="0" marL="0">
              <a:buNone/>
            </a:pPr>
            <a:r>
              <a:rPr lang="en-US" sz="1500" b="1" dirty="0">
                <a:solidFill>
                  <a:srgbClr val="183F35"/>
                </a:solidFill>
                <a:latin typeface="Arial" pitchFamily="34" charset="0"/>
                <a:ea typeface="Arial" pitchFamily="34" charset="-122"/>
                <a:cs typeface="Arial" pitchFamily="34" charset="-120"/>
              </a:rPr>
              <a:t>Automatic share and review minutes</a:t>
            </a:r>
            <a:endParaRPr lang="en-US" sz="1500" dirty="0"/>
          </a:p>
        </p:txBody>
      </p:sp>
      <p:sp>
        <p:nvSpPr>
          <p:cNvPr id="9" name="Shape 6"/>
          <p:cNvSpPr/>
          <p:nvPr/>
        </p:nvSpPr>
        <p:spPr>
          <a:xfrm>
            <a:off x="4152900" y="1828800"/>
            <a:ext cx="3657600" cy="819150"/>
          </a:xfrm>
          <a:prstGeom prst="rect">
            <a:avLst/>
          </a:prstGeom>
          <a:solidFill>
            <a:srgbClr val="FFFFFF"/>
          </a:solidFill>
          <a:ln w="12700">
            <a:solidFill>
              <a:srgbClr val="93ABA0"/>
            </a:solidFill>
            <a:prstDash val="solid"/>
          </a:ln>
        </p:spPr>
      </p:sp>
      <p:sp>
        <p:nvSpPr>
          <p:cNvPr id="10" name="Text 7"/>
          <p:cNvSpPr txBox="1"/>
          <p:nvPr/>
        </p:nvSpPr>
        <p:spPr>
          <a:xfrm>
            <a:off x="4324350" y="1943100"/>
            <a:ext cx="3314700" cy="628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About 44% automatic, as in v2 replay, with reviewer time moving to cases that need judgment</a:t>
            </a:r>
            <a:endParaRPr lang="en-US" sz="1350" dirty="0"/>
          </a:p>
        </p:txBody>
      </p:sp>
      <p:sp>
        <p:nvSpPr>
          <p:cNvPr id="11" name="Shape 8"/>
          <p:cNvSpPr/>
          <p:nvPr/>
        </p:nvSpPr>
        <p:spPr>
          <a:xfrm>
            <a:off x="609600" y="2781300"/>
            <a:ext cx="3429000" cy="819150"/>
          </a:xfrm>
          <a:prstGeom prst="rect">
            <a:avLst/>
          </a:prstGeom>
          <a:solidFill>
            <a:srgbClr val="E1ECF8"/>
          </a:solidFill>
          <a:ln w="12700">
            <a:solidFill>
              <a:srgbClr val="93ABA0"/>
            </a:solidFill>
            <a:prstDash val="solid"/>
          </a:ln>
        </p:spPr>
      </p:sp>
      <p:sp>
        <p:nvSpPr>
          <p:cNvPr id="12" name="Text 9"/>
          <p:cNvSpPr txBox="1"/>
          <p:nvPr/>
        </p:nvSpPr>
        <p:spPr>
          <a:xfrm>
            <a:off x="781050" y="2914650"/>
            <a:ext cx="3086100" cy="571500"/>
          </a:xfrm>
          <a:prstGeom prst="rect">
            <a:avLst/>
          </a:prstGeom>
          <a:noFill/>
          <a:ln/>
        </p:spPr>
        <p:txBody>
          <a:bodyPr wrap="square" lIns="0" tIns="0" rIns="0" bIns="0" rtlCol="0" anchor="t"/>
          <a:lstStyle/>
          <a:p>
            <a:pPr indent="0" marL="0">
              <a:buNone/>
            </a:pPr>
            <a:r>
              <a:rPr lang="en-US" sz="1500" b="1" dirty="0">
                <a:solidFill>
                  <a:srgbClr val="183F35"/>
                </a:solidFill>
                <a:latin typeface="Arial" pitchFamily="34" charset="0"/>
                <a:ea typeface="Arial" pitchFamily="34" charset="-122"/>
                <a:cs typeface="Arial" pitchFamily="34" charset="-120"/>
              </a:rPr>
              <a:t>Overpayment on audited automatic refunds</a:t>
            </a:r>
            <a:endParaRPr lang="en-US" sz="1500" dirty="0"/>
          </a:p>
        </p:txBody>
      </p:sp>
      <p:sp>
        <p:nvSpPr>
          <p:cNvPr id="13" name="Shape 10"/>
          <p:cNvSpPr/>
          <p:nvPr/>
        </p:nvSpPr>
        <p:spPr>
          <a:xfrm>
            <a:off x="4152900" y="2781300"/>
            <a:ext cx="3657600" cy="819150"/>
          </a:xfrm>
          <a:prstGeom prst="rect">
            <a:avLst/>
          </a:prstGeom>
          <a:solidFill>
            <a:srgbClr val="FFFFFF"/>
          </a:solidFill>
          <a:ln w="12700">
            <a:solidFill>
              <a:srgbClr val="93ABA0"/>
            </a:solidFill>
            <a:prstDash val="solid"/>
          </a:ln>
        </p:spPr>
      </p:sp>
      <p:sp>
        <p:nvSpPr>
          <p:cNvPr id="14" name="Text 11"/>
          <p:cNvSpPr txBox="1"/>
          <p:nvPr/>
        </p:nvSpPr>
        <p:spPr>
          <a:xfrm>
            <a:off x="4324350" y="2895600"/>
            <a:ext cx="3314700" cy="628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$0 above the human amount; release check: 95% upper error at most 10%</a:t>
            </a:r>
            <a:endParaRPr lang="en-US" sz="1350" dirty="0"/>
          </a:p>
        </p:txBody>
      </p:sp>
      <p:sp>
        <p:nvSpPr>
          <p:cNvPr id="15" name="Shape 12"/>
          <p:cNvSpPr/>
          <p:nvPr/>
        </p:nvSpPr>
        <p:spPr>
          <a:xfrm>
            <a:off x="609600" y="3733800"/>
            <a:ext cx="3429000" cy="819150"/>
          </a:xfrm>
          <a:prstGeom prst="rect">
            <a:avLst/>
          </a:prstGeom>
          <a:solidFill>
            <a:srgbClr val="E1ECF8"/>
          </a:solidFill>
          <a:ln w="12700">
            <a:solidFill>
              <a:srgbClr val="93ABA0"/>
            </a:solidFill>
            <a:prstDash val="solid"/>
          </a:ln>
        </p:spPr>
      </p:sp>
      <p:sp>
        <p:nvSpPr>
          <p:cNvPr id="16" name="Text 13"/>
          <p:cNvSpPr txBox="1"/>
          <p:nvPr/>
        </p:nvSpPr>
        <p:spPr>
          <a:xfrm>
            <a:off x="781050" y="3867150"/>
            <a:ext cx="3086100" cy="571500"/>
          </a:xfrm>
          <a:prstGeom prst="rect">
            <a:avLst/>
          </a:prstGeom>
          <a:noFill/>
          <a:ln/>
        </p:spPr>
        <p:txBody>
          <a:bodyPr wrap="square" lIns="0" tIns="0" rIns="0" bIns="0" rtlCol="0" anchor="t"/>
          <a:lstStyle/>
          <a:p>
            <a:pPr indent="0" marL="0">
              <a:buNone/>
            </a:pPr>
            <a:r>
              <a:rPr lang="en-US" sz="1500" b="1" dirty="0">
                <a:solidFill>
                  <a:srgbClr val="183F35"/>
                </a:solidFill>
                <a:latin typeface="Arial" pitchFamily="34" charset="0"/>
                <a:ea typeface="Arial" pitchFamily="34" charset="-122"/>
                <a:cs typeface="Arial" pitchFamily="34" charset="-120"/>
              </a:rPr>
              <a:t>Chargebacks on automatic refunds</a:t>
            </a:r>
            <a:endParaRPr lang="en-US" sz="1500" dirty="0"/>
          </a:p>
        </p:txBody>
      </p:sp>
      <p:sp>
        <p:nvSpPr>
          <p:cNvPr id="17" name="Shape 14"/>
          <p:cNvSpPr/>
          <p:nvPr/>
        </p:nvSpPr>
        <p:spPr>
          <a:xfrm>
            <a:off x="4152900" y="3733800"/>
            <a:ext cx="3657600" cy="819150"/>
          </a:xfrm>
          <a:prstGeom prst="rect">
            <a:avLst/>
          </a:prstGeom>
          <a:solidFill>
            <a:srgbClr val="FFFFFF"/>
          </a:solidFill>
          <a:ln w="12700">
            <a:solidFill>
              <a:srgbClr val="93ABA0"/>
            </a:solidFill>
            <a:prstDash val="solid"/>
          </a:ln>
        </p:spPr>
      </p:sp>
      <p:sp>
        <p:nvSpPr>
          <p:cNvPr id="18" name="Text 15"/>
          <p:cNvSpPr txBox="1"/>
          <p:nvPr/>
        </p:nvSpPr>
        <p:spPr>
          <a:xfrm>
            <a:off x="4324350" y="3848100"/>
            <a:ext cx="3314700" cy="628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Zero, each one investigated; today 8 of 248 requests ended in one</a:t>
            </a:r>
            <a:endParaRPr lang="en-US" sz="1350" dirty="0"/>
          </a:p>
        </p:txBody>
      </p:sp>
      <p:sp>
        <p:nvSpPr>
          <p:cNvPr id="19" name="Shape 16"/>
          <p:cNvSpPr/>
          <p:nvPr/>
        </p:nvSpPr>
        <p:spPr>
          <a:xfrm>
            <a:off x="609600" y="4686300"/>
            <a:ext cx="3429000" cy="819150"/>
          </a:xfrm>
          <a:prstGeom prst="rect">
            <a:avLst/>
          </a:prstGeom>
          <a:solidFill>
            <a:srgbClr val="E1ECF8"/>
          </a:solidFill>
          <a:ln w="12700">
            <a:solidFill>
              <a:srgbClr val="93ABA0"/>
            </a:solidFill>
            <a:prstDash val="solid"/>
          </a:ln>
        </p:spPr>
      </p:sp>
      <p:sp>
        <p:nvSpPr>
          <p:cNvPr id="20" name="Text 17"/>
          <p:cNvSpPr txBox="1"/>
          <p:nvPr/>
        </p:nvSpPr>
        <p:spPr>
          <a:xfrm>
            <a:off x="781050" y="4819650"/>
            <a:ext cx="3086100" cy="571500"/>
          </a:xfrm>
          <a:prstGeom prst="rect">
            <a:avLst/>
          </a:prstGeom>
          <a:noFill/>
          <a:ln/>
        </p:spPr>
        <p:txBody>
          <a:bodyPr wrap="square" lIns="0" tIns="0" rIns="0" bIns="0" rtlCol="0" anchor="t"/>
          <a:lstStyle/>
          <a:p>
            <a:pPr indent="0" marL="0">
              <a:buNone/>
            </a:pPr>
            <a:r>
              <a:rPr lang="en-US" sz="1500" b="1" dirty="0">
                <a:solidFill>
                  <a:srgbClr val="183F35"/>
                </a:solidFill>
                <a:latin typeface="Arial" pitchFamily="34" charset="0"/>
                <a:ea typeface="Arial" pitchFamily="34" charset="-122"/>
                <a:cs typeface="Arial" pitchFamily="34" charset="-120"/>
              </a:rPr>
              <a:t>Reviewer overrides and appeals</a:t>
            </a:r>
            <a:endParaRPr lang="en-US" sz="1500" dirty="0"/>
          </a:p>
        </p:txBody>
      </p:sp>
      <p:sp>
        <p:nvSpPr>
          <p:cNvPr id="21" name="Shape 18"/>
          <p:cNvSpPr/>
          <p:nvPr/>
        </p:nvSpPr>
        <p:spPr>
          <a:xfrm>
            <a:off x="4152900" y="4686300"/>
            <a:ext cx="3657600" cy="819150"/>
          </a:xfrm>
          <a:prstGeom prst="rect">
            <a:avLst/>
          </a:prstGeom>
          <a:solidFill>
            <a:srgbClr val="FFFFFF"/>
          </a:solidFill>
          <a:ln w="12700">
            <a:solidFill>
              <a:srgbClr val="93ABA0"/>
            </a:solidFill>
            <a:prstDash val="solid"/>
          </a:ln>
        </p:spPr>
      </p:sp>
      <p:sp>
        <p:nvSpPr>
          <p:cNvPr id="22" name="Text 19"/>
          <p:cNvSpPr txBox="1"/>
          <p:nvPr/>
        </p:nvSpPr>
        <p:spPr>
          <a:xfrm>
            <a:off x="4324350" y="4800600"/>
            <a:ext cx="3314700" cy="628650"/>
          </a:xfrm>
          <a:prstGeom prst="rect">
            <a:avLst/>
          </a:prstGeom>
          <a:noFill/>
          <a:ln/>
        </p:spPr>
        <p:txBody>
          <a:bodyPr wrap="square" lIns="0" tIns="0" rIns="0" bIns="0" rtlCol="0" anchor="t"/>
          <a:lstStyle/>
          <a:p>
            <a:pPr indent="0" marL="0">
              <a:buNone/>
            </a:pPr>
            <a:r>
              <a:rPr lang="en-US" sz="1350" dirty="0">
                <a:solidFill>
                  <a:srgbClr val="52655E"/>
                </a:solidFill>
                <a:latin typeface="Arial" pitchFamily="34" charset="0"/>
                <a:ea typeface="Arial" pitchFamily="34" charset="-122"/>
                <a:cs typeface="Arial" pitchFamily="34" charset="-120"/>
              </a:rPr>
              <a:t>Falling; today 3 rejections were overturned on appeal</a:t>
            </a:r>
            <a:endParaRPr lang="en-US" sz="1350" dirty="0"/>
          </a:p>
        </p:txBody>
      </p:sp>
      <p:sp>
        <p:nvSpPr>
          <p:cNvPr id="23" name="Shape 20"/>
          <p:cNvSpPr/>
          <p:nvPr/>
        </p:nvSpPr>
        <p:spPr>
          <a:xfrm>
            <a:off x="8153400" y="1524000"/>
            <a:ext cx="3429000" cy="3676650"/>
          </a:xfrm>
          <a:prstGeom prst="rect">
            <a:avLst/>
          </a:prstGeom>
          <a:solidFill>
            <a:srgbClr val="F5E0E3"/>
          </a:solidFill>
          <a:ln w="12700">
            <a:solidFill>
              <a:srgbClr val="93ABA0"/>
            </a:solidFill>
            <a:prstDash val="solid"/>
          </a:ln>
        </p:spPr>
      </p:sp>
      <p:sp>
        <p:nvSpPr>
          <p:cNvPr id="24" name="Text 21"/>
          <p:cNvSpPr txBox="1"/>
          <p:nvPr/>
        </p:nvSpPr>
        <p:spPr>
          <a:xfrm>
            <a:off x="8362950" y="1695450"/>
            <a:ext cx="3009900" cy="285750"/>
          </a:xfrm>
          <a:prstGeom prst="rect">
            <a:avLst/>
          </a:prstGeom>
          <a:noFill/>
          <a:ln/>
        </p:spPr>
        <p:txBody>
          <a:bodyPr wrap="square" lIns="0" tIns="0" rIns="0" bIns="0" rtlCol="0" anchor="t"/>
          <a:lstStyle/>
          <a:p>
            <a:pPr indent="0" marL="0">
              <a:buNone/>
            </a:pPr>
            <a:r>
              <a:rPr lang="en-US" sz="1800" b="1" dirty="0">
                <a:solidFill>
                  <a:srgbClr val="9D3948"/>
                </a:solidFill>
                <a:latin typeface="Arial" pitchFamily="34" charset="0"/>
                <a:ea typeface="Arial" pitchFamily="34" charset="-122"/>
                <a:cs typeface="Arial" pitchFamily="34" charset="-120"/>
              </a:rPr>
              <a:t>Roll back when</a:t>
            </a:r>
            <a:endParaRPr lang="en-US" sz="1800" dirty="0"/>
          </a:p>
        </p:txBody>
      </p:sp>
      <p:sp>
        <p:nvSpPr>
          <p:cNvPr id="25" name="Text 22"/>
          <p:cNvSpPr txBox="1"/>
          <p:nvPr/>
        </p:nvSpPr>
        <p:spPr>
          <a:xfrm>
            <a:off x="8362950" y="2114550"/>
            <a:ext cx="3009900" cy="2857500"/>
          </a:xfrm>
          <a:prstGeom prst="rect">
            <a:avLst/>
          </a:prstGeom>
          <a:noFill/>
          <a:ln/>
        </p:spPr>
        <p:txBody>
          <a:bodyPr wrap="square" lIns="0" tIns="0" rIns="0" bIns="0" rtlCol="0" anchor="t"/>
          <a:lstStyle/>
          <a:p>
            <a:pPr marL="203200" indent="-203200">
              <a:spcAft>
                <a:spcPts val="700"/>
              </a:spcAft>
              <a:buSzPct val="100000"/>
              <a:buChar char="•"/>
            </a:pPr>
            <a:r>
              <a:rPr lang="en-US" sz="1350" dirty="0">
                <a:solidFill>
                  <a:srgbClr val="183F35"/>
                </a:solidFill>
                <a:latin typeface="Arial" pitchFamily="34" charset="0"/>
                <a:ea typeface="Arial" pitchFamily="34" charset="-122"/>
                <a:cs typeface="Arial" pitchFamily="34" charset="-120"/>
              </a:rPr>
              <a:t>Any critical violation: a double payment or a limit exceeded</a:t>
            </a:r>
            <a:endParaRPr lang="en-US" sz="1350" dirty="0"/>
          </a:p>
          <a:p>
            <a:pPr marL="203200" indent="-203200">
              <a:spcAft>
                <a:spcPts val="700"/>
              </a:spcAft>
              <a:buSzPct val="100000"/>
              <a:buChar char="•"/>
            </a:pPr>
            <a:r>
              <a:rPr lang="en-US" sz="1350" dirty="0">
                <a:solidFill>
                  <a:srgbClr val="183F35"/>
                </a:solidFill>
                <a:latin typeface="Arial" pitchFamily="34" charset="0"/>
                <a:ea typeface="Arial" pitchFamily="34" charset="-122"/>
                <a:cs typeface="Arial" pitchFamily="34" charset="-120"/>
              </a:rPr>
              <a:t>A chargeback or confirmed overpayment on an automatic refund above tolerance</a:t>
            </a:r>
            <a:endParaRPr lang="en-US" sz="1350" dirty="0"/>
          </a:p>
          <a:p>
            <a:pPr marL="203200" indent="-203200">
              <a:spcAft>
                <a:spcPts val="700"/>
              </a:spcAft>
              <a:buSzPct val="100000"/>
              <a:buChar char="•"/>
            </a:pPr>
            <a:r>
              <a:rPr lang="en-US" sz="1350" dirty="0">
                <a:solidFill>
                  <a:srgbClr val="183F35"/>
                </a:solidFill>
                <a:latin typeface="Arial" pitchFamily="34" charset="0"/>
                <a:ea typeface="Arial" pitchFamily="34" charset="-122"/>
                <a:cs typeface="Arial" pitchFamily="34" charset="-120"/>
              </a:rPr>
              <a:t>Error bound above 10% or stress above $1,000 per 100 approvals</a:t>
            </a:r>
            <a:endParaRPr lang="en-US" sz="1350" dirty="0"/>
          </a:p>
          <a:p>
            <a:pPr marL="203200" indent="-203200">
              <a:spcAft>
                <a:spcPts val="700"/>
              </a:spcAft>
              <a:buSzPct val="100000"/>
              <a:buChar char="•"/>
            </a:pPr>
            <a:r>
              <a:rPr lang="en-US" sz="1350" dirty="0">
                <a:solidFill>
                  <a:srgbClr val="183F35"/>
                </a:solidFill>
                <a:latin typeface="Arial" pitchFamily="34" charset="0"/>
                <a:ea typeface="Arial" pitchFamily="34" charset="-122"/>
                <a:cs typeface="Arial" pitchFamily="34" charset="-120"/>
              </a:rPr>
              <a:t>Automatic share jumps or drops, for example during a carrier incident</a:t>
            </a:r>
            <a:endParaRPr lang="en-US" sz="1350" dirty="0"/>
          </a:p>
        </p:txBody>
      </p:sp>
      <p:sp>
        <p:nvSpPr>
          <p:cNvPr id="26" name="Text 23"/>
          <p:cNvSpPr txBox="1"/>
          <p:nvPr/>
        </p:nvSpPr>
        <p:spPr>
          <a:xfrm>
            <a:off x="8362950" y="4724400"/>
            <a:ext cx="3009900" cy="419100"/>
          </a:xfrm>
          <a:prstGeom prst="rect">
            <a:avLst/>
          </a:prstGeom>
          <a:noFill/>
          <a:ln/>
        </p:spPr>
        <p:txBody>
          <a:bodyPr wrap="square" lIns="0" tIns="0" rIns="0" bIns="0" rtlCol="0" anchor="t"/>
          <a:lstStyle/>
          <a:p>
            <a:pPr indent="0" marL="0">
              <a:buNone/>
            </a:pPr>
            <a:r>
              <a:rPr lang="en-US" sz="1200" dirty="0">
                <a:solidFill>
                  <a:srgbClr val="52655E"/>
                </a:solidFill>
                <a:latin typeface="Arial" pitchFamily="34" charset="0"/>
                <a:ea typeface="Arial" pitchFamily="34" charset="-122"/>
                <a:cs typeface="Arial" pitchFamily="34" charset="-120"/>
              </a:rPr>
              <a:t>Rollback keeps payments and spent limits recorded.</a:t>
            </a:r>
            <a:endParaRPr lang="en-US" sz="1200" dirty="0"/>
          </a:p>
        </p:txBody>
      </p:sp>
      <p:sp>
        <p:nvSpPr>
          <p:cNvPr id="27" name="Text 24"/>
          <p:cNvSpPr txBox="1"/>
          <p:nvPr/>
        </p:nvSpPr>
        <p:spPr>
          <a:xfrm>
            <a:off x="609600" y="6229350"/>
            <a:ext cx="10972800" cy="381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Default release gate: 24 h of Shadowtest, 30 automatic proposals, 30 reviewed customers, 0 critical violations.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3"/>
        </a:solidFill>
      </p:bgPr>
    </p:bg>
    <p:spTree>
      <p:nvGrpSpPr>
        <p:cNvPr id="1" name=""/>
        <p:cNvGrpSpPr/>
        <p:nvPr/>
      </p:nvGrpSpPr>
      <p:grpSpPr>
        <a:xfrm>
          <a:off x="0" y="0"/>
          <a:ext cx="0" cy="0"/>
          <a:chOff x="0" y="0"/>
          <a:chExt cx="0" cy="0"/>
        </a:xfrm>
      </p:grpSpPr>
      <p:sp>
        <p:nvSpPr>
          <p:cNvPr id="2" name="Text 0"/>
          <p:cNvSpPr txBox="1"/>
          <p:nvPr/>
        </p:nvSpPr>
        <p:spPr>
          <a:xfrm>
            <a:off x="609600" y="381000"/>
            <a:ext cx="10972800" cy="552450"/>
          </a:xfrm>
          <a:prstGeom prst="rect">
            <a:avLst/>
          </a:prstGeom>
          <a:noFill/>
          <a:ln/>
        </p:spPr>
        <p:txBody>
          <a:bodyPr wrap="square" lIns="0" tIns="0" rIns="0" bIns="0" rtlCol="0" anchor="t"/>
          <a:lstStyle/>
          <a:p>
            <a:pPr indent="0" marL="0">
              <a:buNone/>
            </a:pPr>
            <a:r>
              <a:rPr lang="en-US" sz="3000" b="1" dirty="0">
                <a:solidFill>
                  <a:srgbClr val="183F35"/>
                </a:solidFill>
                <a:latin typeface="Arial" pitchFamily="34" charset="0"/>
                <a:ea typeface="Arial" pitchFamily="34" charset="-122"/>
                <a:cs typeface="Arial" pitchFamily="34" charset="-120"/>
              </a:rPr>
              <a:t>Deferred, and what to build next</a:t>
            </a:r>
            <a:endParaRPr lang="en-US" sz="3000" dirty="0"/>
          </a:p>
        </p:txBody>
      </p:sp>
      <p:sp>
        <p:nvSpPr>
          <p:cNvPr id="3" name="Text 1"/>
          <p:cNvSpPr txBox="1"/>
          <p:nvPr/>
        </p:nvSpPr>
        <p:spPr>
          <a:xfrm>
            <a:off x="609600" y="990600"/>
            <a:ext cx="10972800" cy="342900"/>
          </a:xfrm>
          <a:prstGeom prst="rect">
            <a:avLst/>
          </a:prstGeom>
          <a:noFill/>
          <a:ln/>
        </p:spPr>
        <p:txBody>
          <a:bodyPr wrap="square" lIns="0" tIns="0" rIns="0" bIns="0" rtlCol="0" anchor="t"/>
          <a:lstStyle/>
          <a:p>
            <a:pPr indent="0" marL="0">
              <a:buNone/>
            </a:pPr>
            <a:r>
              <a:rPr lang="en-US" sz="1650" dirty="0">
                <a:solidFill>
                  <a:srgbClr val="52655E"/>
                </a:solidFill>
                <a:latin typeface="Arial" pitchFamily="34" charset="0"/>
                <a:ea typeface="Arial" pitchFamily="34" charset="-122"/>
                <a:cs typeface="Arial" pitchFamily="34" charset="-120"/>
              </a:rPr>
              <a:t>Deferred from this version; next once there is more independent data.</a:t>
            </a:r>
            <a:endParaRPr lang="en-US" sz="1650" dirty="0"/>
          </a:p>
        </p:txBody>
      </p:sp>
      <p:sp>
        <p:nvSpPr>
          <p:cNvPr id="5" name="Shape 2"/>
          <p:cNvSpPr/>
          <p:nvPr/>
        </p:nvSpPr>
        <p:spPr>
          <a:xfrm>
            <a:off x="609600" y="1619250"/>
            <a:ext cx="10972800" cy="1238250"/>
          </a:xfrm>
          <a:prstGeom prst="rect">
            <a:avLst/>
          </a:prstGeom>
          <a:solidFill>
            <a:srgbClr val="E1ECF8"/>
          </a:solidFill>
          <a:ln w="12700">
            <a:solidFill>
              <a:srgbClr val="93ABA0"/>
            </a:solidFill>
            <a:prstDash val="solid"/>
          </a:ln>
        </p:spPr>
      </p:sp>
      <p:sp>
        <p:nvSpPr>
          <p:cNvPr id="6" name="Text 3"/>
          <p:cNvSpPr txBox="1"/>
          <p:nvPr/>
        </p:nvSpPr>
        <p:spPr>
          <a:xfrm>
            <a:off x="838200" y="1809750"/>
            <a:ext cx="10515600" cy="304800"/>
          </a:xfrm>
          <a:prstGeom prst="rect">
            <a:avLst/>
          </a:prstGeom>
          <a:noFill/>
          <a:ln/>
        </p:spPr>
        <p:txBody>
          <a:bodyPr wrap="square" lIns="0" tIns="0" rIns="0" bIns="0" rtlCol="0" anchor="t"/>
          <a:lstStyle/>
          <a:p>
            <a:pPr indent="0" marL="0">
              <a:buNone/>
            </a:pPr>
            <a:r>
              <a:rPr lang="en-US" sz="1950" b="1" dirty="0">
                <a:solidFill>
                  <a:srgbClr val="183F35"/>
                </a:solidFill>
                <a:latin typeface="Arial" pitchFamily="34" charset="0"/>
                <a:ea typeface="Arial" pitchFamily="34" charset="-122"/>
                <a:cs typeface="Arial" pitchFamily="34" charset="-120"/>
              </a:rPr>
              <a:t>Better evidence for learning</a:t>
            </a:r>
            <a:endParaRPr lang="en-US" sz="1950" dirty="0"/>
          </a:p>
        </p:txBody>
      </p:sp>
      <p:sp>
        <p:nvSpPr>
          <p:cNvPr id="7" name="Text 4"/>
          <p:cNvSpPr txBox="1"/>
          <p:nvPr/>
        </p:nvSpPr>
        <p:spPr>
          <a:xfrm>
            <a:off x="838200" y="2228850"/>
            <a:ext cx="10515600" cy="571500"/>
          </a:xfrm>
          <a:prstGeom prst="rect">
            <a:avLst/>
          </a:prstGeom>
          <a:noFill/>
          <a:ln/>
        </p:spPr>
        <p:txBody>
          <a:bodyPr wrap="square" lIns="0" tIns="0" rIns="0" bIns="0" rtlCol="0" anchor="t"/>
          <a:lstStyle/>
          <a:p>
            <a:pPr indent="0" marL="0">
              <a:buNone/>
            </a:pPr>
            <a:r>
              <a:rPr lang="en-US" sz="1600" dirty="0">
                <a:solidFill>
                  <a:srgbClr val="52655E"/>
                </a:solidFill>
                <a:latin typeface="Arial" pitchFamily="34" charset="0"/>
                <a:ea typeface="Arial" pitchFamily="34" charset="-122"/>
                <a:cs typeface="Arial" pitchFamily="34" charset="-120"/>
              </a:rPr>
              <a:t>Collect mature outcomes and independent reviewer labels.</a:t>
            </a:r>
            <a:endParaRPr lang="en-US" sz="1600" dirty="0"/>
          </a:p>
          <a:p>
            <a:pPr indent="0" marL="0">
              <a:buNone/>
            </a:pPr>
            <a:r>
              <a:rPr lang="en-US" sz="1600" dirty="0">
                <a:solidFill>
                  <a:srgbClr val="52655E"/>
                </a:solidFill>
                <a:latin typeface="Arial" pitchFamily="34" charset="0"/>
                <a:ea typeface="Arial" pitchFamily="34" charset="-122"/>
                <a:cs typeface="Arial" pitchFamily="34" charset="-120"/>
              </a:rPr>
              <a:t>Reserve future time windows and unseen customers for evaluation.</a:t>
            </a:r>
            <a:endParaRPr lang="en-US" sz="1600" dirty="0"/>
          </a:p>
        </p:txBody>
      </p:sp>
      <p:sp>
        <p:nvSpPr>
          <p:cNvPr id="8" name="Shape 5"/>
          <p:cNvSpPr/>
          <p:nvPr/>
        </p:nvSpPr>
        <p:spPr>
          <a:xfrm>
            <a:off x="6096000" y="2857500"/>
            <a:ext cx="0" cy="285750"/>
          </a:xfrm>
          <a:prstGeom prst="line">
            <a:avLst/>
          </a:prstGeom>
          <a:noFill/>
          <a:ln w="22860">
            <a:solidFill>
              <a:srgbClr val="93ABA0"/>
            </a:solidFill>
            <a:prstDash val="solid"/>
            <a:tailEnd type="none"/>
          </a:ln>
        </p:spPr>
      </p:sp>
      <p:sp>
        <p:nvSpPr>
          <p:cNvPr id="9" name="Shape 6"/>
          <p:cNvSpPr/>
          <p:nvPr/>
        </p:nvSpPr>
        <p:spPr>
          <a:xfrm>
            <a:off x="3181350" y="3143250"/>
            <a:ext cx="5829300" cy="0"/>
          </a:xfrm>
          <a:prstGeom prst="line">
            <a:avLst/>
          </a:prstGeom>
          <a:noFill/>
          <a:ln w="22860">
            <a:solidFill>
              <a:srgbClr val="93ABA0"/>
            </a:solidFill>
            <a:prstDash val="solid"/>
            <a:tailEnd type="none"/>
          </a:ln>
        </p:spPr>
      </p:sp>
      <p:sp>
        <p:nvSpPr>
          <p:cNvPr id="10" name="Shape 7"/>
          <p:cNvSpPr/>
          <p:nvPr/>
        </p:nvSpPr>
        <p:spPr>
          <a:xfrm>
            <a:off x="3181350" y="3143250"/>
            <a:ext cx="0" cy="381000"/>
          </a:xfrm>
          <a:prstGeom prst="line">
            <a:avLst/>
          </a:prstGeom>
          <a:noFill/>
          <a:ln w="22860">
            <a:solidFill>
              <a:srgbClr val="93ABA0"/>
            </a:solidFill>
            <a:prstDash val="solid"/>
            <a:tailEnd type="triangle"/>
          </a:ln>
        </p:spPr>
      </p:sp>
      <p:sp>
        <p:nvSpPr>
          <p:cNvPr id="11" name="Shape 8"/>
          <p:cNvSpPr/>
          <p:nvPr/>
        </p:nvSpPr>
        <p:spPr>
          <a:xfrm>
            <a:off x="9010650" y="3143250"/>
            <a:ext cx="0" cy="381000"/>
          </a:xfrm>
          <a:prstGeom prst="line">
            <a:avLst/>
          </a:prstGeom>
          <a:noFill/>
          <a:ln w="22860">
            <a:solidFill>
              <a:srgbClr val="93ABA0"/>
            </a:solidFill>
            <a:prstDash val="solid"/>
            <a:tailEnd type="triangle"/>
          </a:ln>
        </p:spPr>
      </p:sp>
      <p:sp>
        <p:nvSpPr>
          <p:cNvPr id="12" name="Shape 9"/>
          <p:cNvSpPr/>
          <p:nvPr/>
        </p:nvSpPr>
        <p:spPr>
          <a:xfrm>
            <a:off x="609600" y="3524250"/>
            <a:ext cx="5143500" cy="1524000"/>
          </a:xfrm>
          <a:prstGeom prst="rect">
            <a:avLst/>
          </a:prstGeom>
          <a:solidFill>
            <a:srgbClr val="DBEEE4"/>
          </a:solidFill>
          <a:ln w="12700">
            <a:solidFill>
              <a:srgbClr val="93ABA0"/>
            </a:solidFill>
            <a:prstDash val="solid"/>
          </a:ln>
        </p:spPr>
      </p:sp>
      <p:sp>
        <p:nvSpPr>
          <p:cNvPr id="13" name="Text 10"/>
          <p:cNvSpPr txBox="1"/>
          <p:nvPr/>
        </p:nvSpPr>
        <p:spPr>
          <a:xfrm>
            <a:off x="762000" y="3648075"/>
            <a:ext cx="4838700" cy="309563"/>
          </a:xfrm>
          <a:prstGeom prst="rect">
            <a:avLst/>
          </a:prstGeom>
          <a:noFill/>
          <a:ln/>
        </p:spPr>
        <p:txBody>
          <a:bodyPr wrap="square" lIns="0" tIns="0" rIns="0" bIns="0" rtlCol="0" anchor="t"/>
          <a:lstStyle/>
          <a:p>
            <a:pPr indent="0" marL="0">
              <a:buNone/>
            </a:pPr>
            <a:r>
              <a:rPr lang="en-US" sz="1900" b="1" dirty="0">
                <a:solidFill>
                  <a:srgbClr val="183F35"/>
                </a:solidFill>
                <a:latin typeface="Arial" pitchFamily="34" charset="0"/>
                <a:ea typeface="Arial" pitchFamily="34" charset="-122"/>
                <a:cs typeface="Arial" pitchFamily="34" charset="-120"/>
              </a:rPr>
              <a:t>Calibrated risk model</a:t>
            </a:r>
            <a:endParaRPr lang="en-US" sz="1900" dirty="0"/>
          </a:p>
        </p:txBody>
      </p:sp>
      <p:sp>
        <p:nvSpPr>
          <p:cNvPr id="14" name="Text 11"/>
          <p:cNvSpPr txBox="1"/>
          <p:nvPr/>
        </p:nvSpPr>
        <p:spPr>
          <a:xfrm>
            <a:off x="762000" y="4007644"/>
            <a:ext cx="4838700" cy="973931"/>
          </a:xfrm>
          <a:prstGeom prst="rect">
            <a:avLst/>
          </a:prstGeom>
          <a:noFill/>
          <a:ln/>
        </p:spPr>
        <p:txBody>
          <a:bodyPr wrap="square" lIns="0" tIns="0" rIns="0" bIns="0" rtlCol="0" anchor="t"/>
          <a:lstStyle/>
          <a:p>
            <a:pPr indent="0" marL="0">
              <a:buNone/>
            </a:pPr>
            <a:r>
              <a:rPr lang="en-US" sz="1500" dirty="0">
                <a:solidFill>
                  <a:srgbClr val="52655E"/>
                </a:solidFill>
                <a:latin typeface="Arial" pitchFamily="34" charset="0"/>
                <a:ea typeface="Arial" pitchFamily="34" charset="-122"/>
                <a:cs typeface="Arial" pitchFamily="34" charset="-120"/>
              </a:rPr>
              <a:t>Estimate chargeback probability and dollar loss.</a:t>
            </a:r>
            <a:endParaRPr lang="en-US" sz="1500" dirty="0"/>
          </a:p>
          <a:p>
            <a:pPr indent="0" marL="0">
              <a:buNone/>
            </a:pPr>
            <a:r>
              <a:rPr lang="en-US" sz="1500" dirty="0">
                <a:solidFill>
                  <a:srgbClr val="52655E"/>
                </a:solidFill>
                <a:latin typeface="Arial" pitchFamily="34" charset="0"/>
                <a:ea typeface="Arial" pitchFamily="34" charset="-122"/>
                <a:cs typeface="Arial" pitchFamily="34" charset="-120"/>
              </a:rPr>
              <a:t>Show uncertainty, calibration and drift.</a:t>
            </a:r>
            <a:endParaRPr lang="en-US" sz="1500" dirty="0"/>
          </a:p>
          <a:p>
            <a:pPr indent="0" marL="0">
              <a:buNone/>
            </a:pPr>
            <a:r>
              <a:rPr lang="en-US" sz="1500" dirty="0">
                <a:solidFill>
                  <a:srgbClr val="52655E"/>
                </a:solidFill>
                <a:latin typeface="Arial" pitchFamily="34" charset="0"/>
                <a:ea typeface="Arial" pitchFamily="34" charset="-122"/>
                <a:cs typeface="Arial" pitchFamily="34" charset="-120"/>
              </a:rPr>
              <a:t>Keep the manager’s risk tolerances explicit.</a:t>
            </a:r>
            <a:endParaRPr lang="en-US" sz="1500" dirty="0"/>
          </a:p>
        </p:txBody>
      </p:sp>
      <p:sp>
        <p:nvSpPr>
          <p:cNvPr id="15" name="Shape 12"/>
          <p:cNvSpPr/>
          <p:nvPr/>
        </p:nvSpPr>
        <p:spPr>
          <a:xfrm>
            <a:off x="6438900" y="3524250"/>
            <a:ext cx="5143500" cy="1524000"/>
          </a:xfrm>
          <a:prstGeom prst="rect">
            <a:avLst/>
          </a:prstGeom>
          <a:solidFill>
            <a:srgbClr val="EAE5F5"/>
          </a:solidFill>
          <a:ln w="12700">
            <a:solidFill>
              <a:srgbClr val="93ABA0"/>
            </a:solidFill>
            <a:prstDash val="solid"/>
          </a:ln>
        </p:spPr>
      </p:sp>
      <p:sp>
        <p:nvSpPr>
          <p:cNvPr id="16" name="Text 13"/>
          <p:cNvSpPr txBox="1"/>
          <p:nvPr/>
        </p:nvSpPr>
        <p:spPr>
          <a:xfrm>
            <a:off x="6591300" y="3648075"/>
            <a:ext cx="4838700" cy="309563"/>
          </a:xfrm>
          <a:prstGeom prst="rect">
            <a:avLst/>
          </a:prstGeom>
          <a:noFill/>
          <a:ln/>
        </p:spPr>
        <p:txBody>
          <a:bodyPr wrap="square" lIns="0" tIns="0" rIns="0" bIns="0" rtlCol="0" anchor="t"/>
          <a:lstStyle/>
          <a:p>
            <a:pPr indent="0" marL="0">
              <a:buNone/>
            </a:pPr>
            <a:r>
              <a:rPr lang="en-US" sz="1900" b="1" dirty="0">
                <a:solidFill>
                  <a:srgbClr val="183F35"/>
                </a:solidFill>
                <a:latin typeface="Arial" pitchFamily="34" charset="0"/>
                <a:ea typeface="Arial" pitchFamily="34" charset="-122"/>
                <a:cs typeface="Arial" pitchFamily="34" charset="-120"/>
              </a:rPr>
              <a:t>More powerful rule discovery</a:t>
            </a:r>
            <a:endParaRPr lang="en-US" sz="1900" dirty="0"/>
          </a:p>
        </p:txBody>
      </p:sp>
      <p:sp>
        <p:nvSpPr>
          <p:cNvPr id="17" name="Text 14"/>
          <p:cNvSpPr txBox="1"/>
          <p:nvPr/>
        </p:nvSpPr>
        <p:spPr>
          <a:xfrm>
            <a:off x="6591300" y="4007644"/>
            <a:ext cx="4838700" cy="973931"/>
          </a:xfrm>
          <a:prstGeom prst="rect">
            <a:avLst/>
          </a:prstGeom>
          <a:noFill/>
          <a:ln/>
        </p:spPr>
        <p:txBody>
          <a:bodyPr wrap="square" lIns="0" tIns="0" rIns="0" bIns="0" rtlCol="0" anchor="t"/>
          <a:lstStyle/>
          <a:p>
            <a:pPr indent="0" marL="0">
              <a:buNone/>
            </a:pPr>
            <a:r>
              <a:rPr lang="en-US" sz="1500" dirty="0">
                <a:solidFill>
                  <a:srgbClr val="52655E"/>
                </a:solidFill>
                <a:latin typeface="Arial" pitchFamily="34" charset="0"/>
                <a:ea typeface="Arial" pitchFamily="34" charset="-122"/>
                <a:cs typeface="Arial" pitchFamily="34" charset="-120"/>
              </a:rPr>
              <a:t>Search richer AND / OR interactions and segments.</a:t>
            </a:r>
            <a:endParaRPr lang="en-US" sz="1500" dirty="0"/>
          </a:p>
          <a:p>
            <a:pPr indent="0" marL="0">
              <a:buNone/>
            </a:pPr>
            <a:r>
              <a:rPr lang="en-US" sz="1500" dirty="0">
                <a:solidFill>
                  <a:srgbClr val="52655E"/>
                </a:solidFill>
                <a:latin typeface="Arial" pitchFamily="34" charset="0"/>
                <a:ea typeface="Arial" pitchFamily="34" charset="-122"/>
                <a:cs typeface="Arial" pitchFamily="34" charset="-120"/>
              </a:rPr>
              <a:t>Validate future-period support, errors and loss.</a:t>
            </a:r>
            <a:endParaRPr lang="en-US" sz="1500" dirty="0"/>
          </a:p>
          <a:p>
            <a:pPr indent="0" marL="0">
              <a:buNone/>
            </a:pPr>
            <a:r>
              <a:rPr lang="en-US" sz="1500" dirty="0">
                <a:solidFill>
                  <a:srgbClr val="52655E"/>
                </a:solidFill>
                <a:latin typeface="Arial" pitchFamily="34" charset="0"/>
                <a:ea typeface="Arial" pitchFamily="34" charset="-122"/>
                <a:cs typeface="Arial" pitchFamily="34" charset="-120"/>
              </a:rPr>
              <a:t>Prune overlapping or conflicting candidates.</a:t>
            </a:r>
            <a:endParaRPr lang="en-US" sz="1500" dirty="0"/>
          </a:p>
        </p:txBody>
      </p:sp>
      <p:sp>
        <p:nvSpPr>
          <p:cNvPr id="18" name="Text 15"/>
          <p:cNvSpPr txBox="1"/>
          <p:nvPr/>
        </p:nvSpPr>
        <p:spPr>
          <a:xfrm>
            <a:off x="609600" y="6229350"/>
            <a:ext cx="10972800" cy="381000"/>
          </a:xfrm>
          <a:prstGeom prst="rect">
            <a:avLst/>
          </a:prstGeom>
          <a:noFill/>
          <a:ln/>
        </p:spPr>
        <p:txBody>
          <a:bodyPr wrap="square" lIns="0" tIns="0" rIns="0" bIns="0" rtlCol="0" anchor="t"/>
          <a:lstStyle/>
          <a:p>
            <a:pPr indent="0" marL="0">
              <a:buNone/>
            </a:pPr>
            <a:r>
              <a:rPr lang="en-US" sz="1450" dirty="0">
                <a:solidFill>
                  <a:srgbClr val="52655E"/>
                </a:solidFill>
                <a:latin typeface="Arial" pitchFamily="34" charset="0"/>
                <a:ea typeface="Arial" pitchFamily="34" charset="-122"/>
                <a:cs typeface="Arial" pitchFamily="34" charset="-120"/>
              </a:rPr>
              <a:t>Proposals stay explainable. Managers inspect the evidence and choose which rules to release.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achopikyan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Refund operations</dc:title>
  <dc:subject>PptxGenJS Presentation</dc:subject>
  <dc:creator>achopikyan</dc:creator>
  <cp:lastModifiedBy>achopikyan</cp:lastModifiedBy>
  <cp:revision>1</cp:revision>
  <dcterms:created xsi:type="dcterms:W3CDTF">2026-10-27T19:47:30Z</dcterms:created>
  <dcterms:modified xsi:type="dcterms:W3CDTF">2026-10-27T19:47:30Z</dcterms:modified>
</cp:coreProperties>
</file>